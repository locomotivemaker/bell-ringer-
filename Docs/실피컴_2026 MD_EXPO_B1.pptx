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98" r:id="rId2"/>
  </p:sldIdLst>
  <p:sldSz cx="21599525" cy="32399288"/>
  <p:notesSz cx="6807200" cy="9939338"/>
  <p:embeddedFontLst>
    <p:embeddedFont>
      <p:font typeface="페이퍼로지 6 SemiBold" charset="-127"/>
      <p:regular r:id="rId5"/>
      <p:bold r:id="rId6"/>
    </p:embeddedFont>
    <p:embeddedFont>
      <p:font typeface="페이퍼로지 8 ExtraBold" charset="-127"/>
      <p:bold r:id="rId7"/>
    </p:embeddedFont>
    <p:embeddedFont>
      <p:font typeface="프리젠테이션 4 Regular" charset="-127"/>
      <p:regular r:id="rId8"/>
    </p:embeddedFont>
    <p:embeddedFont>
      <p:font typeface="프리젠테이션 7 Bold" charset="-127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6BA5C"/>
    <a:srgbClr val="FFFFFF"/>
    <a:srgbClr val="E4EAE4"/>
    <a:srgbClr val="C9C9CB"/>
    <a:srgbClr val="225E65"/>
    <a:srgbClr val="D22227"/>
    <a:srgbClr val="764DAE"/>
    <a:srgbClr val="E3A40D"/>
    <a:srgbClr val="176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6076" autoAdjust="0"/>
  </p:normalViewPr>
  <p:slideViewPr>
    <p:cSldViewPr>
      <p:cViewPr>
        <p:scale>
          <a:sx n="33" d="100"/>
          <a:sy n="33" d="100"/>
        </p:scale>
        <p:origin x="2472" y="24"/>
      </p:cViewPr>
      <p:guideLst>
        <p:guide orient="horz" pos="10205"/>
        <p:guide pos="6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314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3C422A-34B3-4C58-BD0B-EAD7D607A2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64789E-F14C-420B-B9FA-B45C75B758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112EB-970A-42F9-961D-9A843A29AEE0}" type="datetimeFigureOut">
              <a:rPr lang="ko-KR" altLang="en-US" smtClean="0">
                <a:latin typeface="프리젠테이션 4 Regular" pitchFamily="2" charset="-127"/>
                <a:ea typeface="프리젠테이션 4 Regular" pitchFamily="2" charset="-127"/>
              </a:rPr>
              <a:t>2026-05-31</a:t>
            </a:fld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3D53A4-4FFF-4575-8E4C-D1C7ECFFE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8A5394-FFB3-41F6-9475-77B5C385B4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616E0-2C1B-49D4-A1B4-DB6A6111033B}" type="slidenum">
              <a:rPr lang="ko-KR" altLang="en-US" smtClean="0">
                <a:latin typeface="프리젠테이션 4 Regular" pitchFamily="2" charset="-127"/>
                <a:ea typeface="프리젠테이션 4 Regular" pitchFamily="2" charset="-127"/>
              </a:rPr>
              <a:t>‹#›</a:t>
            </a:fld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212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7472FB17-58EF-4A58-BD0A-24A9918C23B5}" type="datetimeFigureOut">
              <a:rPr lang="ko-KR" altLang="en-US" smtClean="0"/>
              <a:pPr/>
              <a:t>2026-05-31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1243013"/>
            <a:ext cx="22352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2369D8F4-2A5A-4260-85C3-B027326E9B1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4786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1pPr>
    <a:lvl2pPr marL="1321948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2pPr>
    <a:lvl3pPr marL="2643896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3pPr>
    <a:lvl4pPr marL="3965844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4pPr>
    <a:lvl5pPr marL="5287792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5pPr>
    <a:lvl6pPr marL="6609740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6pPr>
    <a:lvl7pPr marL="7931688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7pPr>
    <a:lvl8pPr marL="9253637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8pPr>
    <a:lvl9pPr marL="10575585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1"/>
                  </a:gs>
                  <a:gs pos="77000">
                    <a:schemeClr val="accent6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14003D7-5319-B9C8-B0F5-D66680C73E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2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1"/>
                  </a:gs>
                  <a:gs pos="77000">
                    <a:schemeClr val="accent6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F1B5314-B233-4CDB-8237-D007C130B0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1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2">
                <a:lumMod val="40000"/>
                <a:lumOff val="6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4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3A1ADA-CC5A-4E16-BD35-6CEB953AB1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547366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869CFC-2FE1-277D-DFE4-281201848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2">
                <a:lumMod val="40000"/>
                <a:lumOff val="6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4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322938B-0F6C-4010-9398-1BB73366C1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1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42000">
                <a:schemeClr val="accent3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  <a:alphaModFix amt="5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39000">
                    <a:schemeClr val="accent3"/>
                  </a:gs>
                  <a:gs pos="88000">
                    <a:schemeClr val="accent2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16B5CB7-7B1C-59F6-4C25-4248792AF4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547366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2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0142F11-92F3-3844-99D9-22583B2C1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42000">
                <a:schemeClr val="accent3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39000">
                    <a:schemeClr val="accent3"/>
                  </a:gs>
                  <a:gs pos="88000">
                    <a:schemeClr val="accent2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77B4877-351A-48CB-88B8-A4C0E8F79F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82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5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2000">
                    <a:schemeClr val="accent4"/>
                  </a:gs>
                  <a:gs pos="86000">
                    <a:srgbClr val="FFC00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FD21804-7CC7-83C1-F781-3FD477C8BA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1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DD47640-1E81-042A-65D5-B32F416CFB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7C418A-FB76-C3A2-4AE9-067D019352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4"/>
              </a:gs>
              <a:gs pos="10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2000">
                    <a:schemeClr val="accent4"/>
                  </a:gs>
                  <a:gs pos="86000">
                    <a:srgbClr val="FFC00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5253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1" y="0"/>
            <a:ext cx="21599524" cy="25131963"/>
          </a:xfrm>
          <a:prstGeom prst="rect">
            <a:avLst/>
          </a:prstGeom>
          <a:gradFill>
            <a:gsLst>
              <a:gs pos="21000">
                <a:schemeClr val="accent5"/>
              </a:gs>
              <a:gs pos="90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5">
                <a:lumMod val="75000"/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5"/>
                  </a:gs>
                  <a:gs pos="100000">
                    <a:schemeClr val="accent4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0E7674C-E607-5C4E-6009-55F4DB01F1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2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AA5AD1C-9A25-5969-8CDE-4861562A3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duotone>
              <a:prstClr val="black"/>
              <a:schemeClr val="accent5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1" y="0"/>
            <a:ext cx="21599524" cy="25131963"/>
          </a:xfrm>
          <a:prstGeom prst="rect">
            <a:avLst/>
          </a:prstGeom>
          <a:gradFill>
            <a:gsLst>
              <a:gs pos="21000">
                <a:schemeClr val="accent5"/>
              </a:gs>
              <a:gs pos="90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2025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5"/>
                  </a:gs>
                  <a:gs pos="100000">
                    <a:schemeClr val="accent4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4F2165D-01ED-4144-A07E-4099507054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8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613E-18C8-4B39-A489-392B9AD58E48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2A2E9-4A31-411D-B90F-C8B539CA02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7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3" r:id="rId2"/>
    <p:sldLayoutId id="2147483709" r:id="rId3"/>
    <p:sldLayoutId id="2147483714" r:id="rId4"/>
    <p:sldLayoutId id="2147483710" r:id="rId5"/>
    <p:sldLayoutId id="2147483715" r:id="rId6"/>
    <p:sldLayoutId id="2147483711" r:id="rId7"/>
    <p:sldLayoutId id="2147483716" r:id="rId8"/>
    <p:sldLayoutId id="2147483712" r:id="rId9"/>
    <p:sldLayoutId id="2147483717" r:id="rId10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04" userDrawn="1">
          <p15:clr>
            <a:srgbClr val="F26B43"/>
          </p15:clr>
        </p15:guide>
        <p15:guide id="2" pos="68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09F8-BBB3-2CE8-D092-B17FB2D2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그림 1048">
            <a:extLst>
              <a:ext uri="{FF2B5EF4-FFF2-40B4-BE49-F238E27FC236}">
                <a16:creationId xmlns:a16="http://schemas.microsoft.com/office/drawing/2014/main" id="{A16E786A-7962-AA90-CB22-19AEA47F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13" y="10084245"/>
            <a:ext cx="485589" cy="651401"/>
          </a:xfrm>
          <a:prstGeom prst="rect">
            <a:avLst/>
          </a:prstGeom>
        </p:spPr>
      </p:pic>
      <p:pic>
        <p:nvPicPr>
          <p:cNvPr id="1047" name="그림 1046">
            <a:extLst>
              <a:ext uri="{FF2B5EF4-FFF2-40B4-BE49-F238E27FC236}">
                <a16:creationId xmlns:a16="http://schemas.microsoft.com/office/drawing/2014/main" id="{947095A4-586C-7DA2-BEB6-1C9BDB9BC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581" y="10178153"/>
            <a:ext cx="627227" cy="433406"/>
          </a:xfrm>
          <a:prstGeom prst="rect">
            <a:avLst/>
          </a:prstGeom>
        </p:spPr>
      </p:pic>
      <p:pic>
        <p:nvPicPr>
          <p:cNvPr id="1046" name="그림 1045">
            <a:extLst>
              <a:ext uri="{FF2B5EF4-FFF2-40B4-BE49-F238E27FC236}">
                <a16:creationId xmlns:a16="http://schemas.microsoft.com/office/drawing/2014/main" id="{C7BF437F-83C8-73C9-40AE-1DCCCB5F8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288" y="10095446"/>
            <a:ext cx="552970" cy="644237"/>
          </a:xfrm>
          <a:prstGeom prst="rect">
            <a:avLst/>
          </a:prstGeom>
        </p:spPr>
      </p:pic>
      <p:pic>
        <p:nvPicPr>
          <p:cNvPr id="1043" name="그림 1042">
            <a:extLst>
              <a:ext uri="{FF2B5EF4-FFF2-40B4-BE49-F238E27FC236}">
                <a16:creationId xmlns:a16="http://schemas.microsoft.com/office/drawing/2014/main" id="{10612FE8-4AF2-F236-D537-F82A8A5E9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050" y="10058849"/>
            <a:ext cx="662304" cy="678327"/>
          </a:xfrm>
          <a:prstGeom prst="rect">
            <a:avLst/>
          </a:prstGeom>
        </p:spPr>
      </p:pic>
      <p:pic>
        <p:nvPicPr>
          <p:cNvPr id="1041" name="그림 1040">
            <a:extLst>
              <a:ext uri="{FF2B5EF4-FFF2-40B4-BE49-F238E27FC236}">
                <a16:creationId xmlns:a16="http://schemas.microsoft.com/office/drawing/2014/main" id="{ADB3EF89-5FD4-41E7-8301-F77F5830A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5672" y="10125782"/>
            <a:ext cx="632563" cy="576448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7520B866-A68B-7395-E154-DA9A7BC09D1B}"/>
              </a:ext>
            </a:extLst>
          </p:cNvPr>
          <p:cNvSpPr txBox="1"/>
          <p:nvPr/>
        </p:nvSpPr>
        <p:spPr>
          <a:xfrm>
            <a:off x="3454546" y="5497167"/>
            <a:ext cx="2916000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개요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E57EBDE-28CE-E224-04E1-2809A0F2AF24}"/>
              </a:ext>
            </a:extLst>
          </p:cNvPr>
          <p:cNvSpPr txBox="1"/>
          <p:nvPr/>
        </p:nvSpPr>
        <p:spPr>
          <a:xfrm>
            <a:off x="2378290" y="5466129"/>
            <a:ext cx="1006032" cy="8315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01</a:t>
            </a:r>
            <a:endParaRPr lang="ko-KR" altLang="en-US" sz="4800" dirty="0">
              <a:solidFill>
                <a:srgbClr val="1DAF8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DA0D8F-662F-25FB-F83F-E8AEDB1EE9EF}"/>
              </a:ext>
            </a:extLst>
          </p:cNvPr>
          <p:cNvSpPr txBox="1"/>
          <p:nvPr/>
        </p:nvSpPr>
        <p:spPr>
          <a:xfrm>
            <a:off x="2450717" y="6422372"/>
            <a:ext cx="7625827" cy="3458245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buClr>
                <a:srgbClr val="1DAF88"/>
              </a:buClr>
            </a:pPr>
            <a:r>
              <a:rPr lang="ko-KR" altLang="en-US" sz="3500"/>
              <a:t>소리의 방향을 빛의 위치로 바꾸어</a:t>
            </a:r>
            <a:r>
              <a:rPr lang="en-US" altLang="ko-KR" sz="3500"/>
              <a:t>, </a:t>
            </a:r>
            <a:r>
              <a:rPr lang="ko-KR" altLang="en-US" sz="3500"/>
              <a:t>눈을 감은 상태에서도 종을 추적하고 </a:t>
            </a:r>
            <a:br>
              <a:rPr lang="en-US" altLang="ko-KR" sz="3500"/>
            </a:br>
            <a:r>
              <a:rPr lang="ko-KR" altLang="en-US" sz="3500"/>
              <a:t>이명을 정화하는 </a:t>
            </a:r>
            <a:br>
              <a:rPr lang="en-US" altLang="ko-KR" sz="3500"/>
            </a:br>
            <a:r>
              <a:rPr lang="ko-KR" altLang="en-US" sz="3500"/>
              <a:t>감각 기반 게임입니다</a:t>
            </a:r>
            <a:r>
              <a:rPr lang="en-US" altLang="ko-KR" sz="3500"/>
              <a:t>.</a:t>
            </a:r>
          </a:p>
          <a:p>
            <a:pPr>
              <a:buClr>
                <a:srgbClr val="1DAF88"/>
              </a:buClr>
            </a:pPr>
            <a:r>
              <a:rPr lang="ko-KR" altLang="en-US" sz="3500"/>
              <a:t>패드의 위치와 회전을 통해 </a:t>
            </a:r>
            <a:br>
              <a:rPr lang="en-US" altLang="ko-KR" sz="3500"/>
            </a:br>
            <a:r>
              <a:rPr lang="ko-KR" altLang="en-US" sz="3500"/>
              <a:t>이명을 정화합니다</a:t>
            </a:r>
            <a:r>
              <a:rPr lang="en-US" altLang="ko-KR" sz="3500"/>
              <a:t>.</a:t>
            </a:r>
          </a:p>
        </p:txBody>
      </p:sp>
      <p:sp>
        <p:nvSpPr>
          <p:cNvPr id="45" name="텍스트 개체 틀 44">
            <a:extLst>
              <a:ext uri="{FF2B5EF4-FFF2-40B4-BE49-F238E27FC236}">
                <a16:creationId xmlns:a16="http://schemas.microsoft.com/office/drawing/2014/main" id="{08D5A4C7-2DEF-7B36-5FB2-BE849B3855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체감기술</a:t>
            </a:r>
            <a:r>
              <a:rPr lang="en-US" altLang="ko-KR" dirty="0"/>
              <a:t>(</a:t>
            </a:r>
            <a:r>
              <a:rPr lang="ko-KR" altLang="en-US" dirty="0"/>
              <a:t>고급</a:t>
            </a:r>
            <a:r>
              <a:rPr lang="en-US" altLang="ko-KR" dirty="0"/>
              <a:t>)</a:t>
            </a:r>
          </a:p>
        </p:txBody>
      </p:sp>
      <p:sp>
        <p:nvSpPr>
          <p:cNvPr id="47" name="텍스트 개체 틀 46">
            <a:extLst>
              <a:ext uri="{FF2B5EF4-FFF2-40B4-BE49-F238E27FC236}">
                <a16:creationId xmlns:a16="http://schemas.microsoft.com/office/drawing/2014/main" id="{652B8963-6290-EB29-5C1A-41F501C54D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실감피지컬컴퓨팅</a:t>
            </a:r>
            <a:endParaRPr lang="ko-KR" altLang="en-US" dirty="0"/>
          </a:p>
        </p:txBody>
      </p:sp>
      <p:sp>
        <p:nvSpPr>
          <p:cNvPr id="48" name="텍스트 개체 틀 47">
            <a:extLst>
              <a:ext uri="{FF2B5EF4-FFF2-40B4-BE49-F238E27FC236}">
                <a16:creationId xmlns:a16="http://schemas.microsoft.com/office/drawing/2014/main" id="{EC163707-CC88-9790-D7D7-32C64010D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Bell Ringer ( </a:t>
            </a:r>
            <a:r>
              <a:rPr lang="ko-KR" altLang="en-US"/>
              <a:t>종지기 </a:t>
            </a:r>
            <a:r>
              <a:rPr lang="en-US" altLang="ko-KR"/>
              <a:t>)</a:t>
            </a:r>
            <a:endParaRPr lang="en-US" altLang="ko-KR" dirty="0"/>
          </a:p>
        </p:txBody>
      </p:sp>
      <p:sp>
        <p:nvSpPr>
          <p:cNvPr id="49" name="텍스트 개체 틀 48">
            <a:extLst>
              <a:ext uri="{FF2B5EF4-FFF2-40B4-BE49-F238E27FC236}">
                <a16:creationId xmlns:a16="http://schemas.microsoft.com/office/drawing/2014/main" id="{105D9721-CDC4-8D4E-F479-191B0EB0E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팀원 </a:t>
            </a:r>
            <a:r>
              <a:rPr lang="en-US" altLang="ko-KR"/>
              <a:t>(</a:t>
            </a:r>
            <a:r>
              <a:rPr lang="ko-KR" altLang="en-US"/>
              <a:t>팀명</a:t>
            </a:r>
            <a:r>
              <a:rPr lang="en-US" altLang="ko-KR"/>
              <a:t>)</a:t>
            </a:r>
            <a:endParaRPr lang="en-US" altLang="ko-KR" dirty="0"/>
          </a:p>
        </p:txBody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5F8133BA-ED9A-EF61-7590-1B20AAA08D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지도교수</a:t>
            </a:r>
          </a:p>
        </p:txBody>
      </p:sp>
      <p:sp>
        <p:nvSpPr>
          <p:cNvPr id="51" name="텍스트 개체 틀 50">
            <a:extLst>
              <a:ext uri="{FF2B5EF4-FFF2-40B4-BE49-F238E27FC236}">
                <a16:creationId xmlns:a16="http://schemas.microsoft.com/office/drawing/2014/main" id="{642E2627-69B6-4239-4F57-25BA44B168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이중호</a:t>
            </a:r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44CE4EB0-A4A0-3C25-AC15-9FE1C26F97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남현희 </a:t>
            </a:r>
            <a:r>
              <a:rPr lang="en-US" altLang="ko-KR"/>
              <a:t>(</a:t>
            </a:r>
            <a:r>
              <a:rPr lang="ko-KR" altLang="en-US"/>
              <a:t>팀 </a:t>
            </a:r>
            <a:r>
              <a:rPr lang="en-US" altLang="ko-KR"/>
              <a:t>8)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9427E-A5EE-A7E6-638B-4DAF8C841BAA}"/>
              </a:ext>
            </a:extLst>
          </p:cNvPr>
          <p:cNvSpPr txBox="1"/>
          <p:nvPr/>
        </p:nvSpPr>
        <p:spPr>
          <a:xfrm>
            <a:off x="12293746" y="5497167"/>
            <a:ext cx="2916000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배경 및 목적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426EA-8A4D-2B16-3B94-7820E5F09811}"/>
              </a:ext>
            </a:extLst>
          </p:cNvPr>
          <p:cNvSpPr txBox="1"/>
          <p:nvPr/>
        </p:nvSpPr>
        <p:spPr>
          <a:xfrm>
            <a:off x="11217490" y="5466389"/>
            <a:ext cx="100540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02</a:t>
            </a:r>
            <a:endParaRPr lang="ko-KR" altLang="en-US" sz="4800" dirty="0">
              <a:solidFill>
                <a:srgbClr val="1DAF8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C6C26-22E5-02E0-613C-3B9319A66577}"/>
              </a:ext>
            </a:extLst>
          </p:cNvPr>
          <p:cNvSpPr txBox="1"/>
          <p:nvPr/>
        </p:nvSpPr>
        <p:spPr>
          <a:xfrm>
            <a:off x="11289917" y="6422372"/>
            <a:ext cx="7718753" cy="1688530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buClr>
                <a:srgbClr val="1DAF88"/>
              </a:buClr>
            </a:pPr>
            <a:r>
              <a:rPr lang="ko-KR" altLang="en-US" sz="3500"/>
              <a:t>본 프로젝트는 보지 못하는 상태에서 소리</a:t>
            </a:r>
            <a:r>
              <a:rPr lang="en-US" altLang="ko-KR" sz="3500"/>
              <a:t>·</a:t>
            </a:r>
            <a:r>
              <a:rPr lang="ko-KR" altLang="en-US" sz="3500"/>
              <a:t>빛의 패턴과 색만으로도 독특한 플레이 경험을 </a:t>
            </a:r>
            <a:br>
              <a:rPr lang="en-US" altLang="ko-KR" sz="3500"/>
            </a:br>
            <a:r>
              <a:rPr lang="ko-KR" altLang="en-US" sz="3500"/>
              <a:t>만들 수 있는지 실험하는 감각 중심 게임입니다</a:t>
            </a:r>
            <a:r>
              <a:rPr lang="en-US" altLang="ko-KR" sz="350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5CB6A7-7342-4E21-D615-644459FFD597}"/>
              </a:ext>
            </a:extLst>
          </p:cNvPr>
          <p:cNvSpPr txBox="1"/>
          <p:nvPr/>
        </p:nvSpPr>
        <p:spPr>
          <a:xfrm>
            <a:off x="3454546" y="13827321"/>
            <a:ext cx="1282896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내용</a:t>
            </a:r>
            <a:endParaRPr lang="ko-KR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56D8A-570B-034F-5CF9-4EFD8B7962FB}"/>
              </a:ext>
            </a:extLst>
          </p:cNvPr>
          <p:cNvSpPr txBox="1"/>
          <p:nvPr/>
        </p:nvSpPr>
        <p:spPr>
          <a:xfrm>
            <a:off x="2378290" y="13796543"/>
            <a:ext cx="100540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03</a:t>
            </a:r>
            <a:endParaRPr lang="ko-KR" altLang="en-US" sz="4800" dirty="0">
              <a:solidFill>
                <a:srgbClr val="1DAF8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381430-7E5A-DA52-0509-D075588E88B5}"/>
              </a:ext>
            </a:extLst>
          </p:cNvPr>
          <p:cNvSpPr txBox="1"/>
          <p:nvPr/>
        </p:nvSpPr>
        <p:spPr>
          <a:xfrm>
            <a:off x="3454546" y="22311933"/>
            <a:ext cx="2916000" cy="769441"/>
          </a:xfrm>
          <a:prstGeom prst="rect">
            <a:avLst/>
          </a:prstGeom>
          <a:noFill/>
        </p:spPr>
        <p:txBody>
          <a:bodyPr wrap="none" lIns="72000" tIns="36000" rIns="72000" bIns="36000" rtlCol="0">
            <a:noAutofit/>
          </a:bodyPr>
          <a:lstStyle/>
          <a:p>
            <a:r>
              <a:rPr lang="ko-KR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8382ED-B6C4-F0FB-D9FA-178569AB5050}"/>
              </a:ext>
            </a:extLst>
          </p:cNvPr>
          <p:cNvSpPr txBox="1"/>
          <p:nvPr/>
        </p:nvSpPr>
        <p:spPr>
          <a:xfrm>
            <a:off x="2378290" y="22280895"/>
            <a:ext cx="1006032" cy="8315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dirty="0">
                <a:solidFill>
                  <a:srgbClr val="1DAF88"/>
                </a:solidFill>
                <a:latin typeface="페이퍼로지 8 ExtraBold" pitchFamily="2" charset="-127"/>
                <a:ea typeface="페이퍼로지 8 ExtraBold" pitchFamily="2" charset="-127"/>
              </a:rPr>
              <a:t>04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C09344-A9A6-436E-8A7A-1E40115C96C7}"/>
              </a:ext>
            </a:extLst>
          </p:cNvPr>
          <p:cNvSpPr/>
          <p:nvPr/>
        </p:nvSpPr>
        <p:spPr>
          <a:xfrm>
            <a:off x="19193984" y="30315795"/>
            <a:ext cx="1299879" cy="1299878"/>
          </a:xfrm>
          <a:prstGeom prst="roundRect">
            <a:avLst>
              <a:gd name="adj" fmla="val 787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+mn-ea"/>
              </a:rPr>
              <a:t>QR</a:t>
            </a:r>
            <a:endParaRPr lang="ko-KR" altLang="en-US" sz="4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5ED93-9487-39BF-CD42-A14D9979A9F3}"/>
              </a:ext>
            </a:extLst>
          </p:cNvPr>
          <p:cNvSpPr txBox="1"/>
          <p:nvPr/>
        </p:nvSpPr>
        <p:spPr>
          <a:xfrm>
            <a:off x="3219820" y="27103875"/>
            <a:ext cx="3707135" cy="1149921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3500">
                <a:solidFill>
                  <a:schemeClr val="tx1">
                    <a:lumMod val="95000"/>
                    <a:lumOff val="5000"/>
                  </a:schemeClr>
                </a:solidFill>
              </a:rPr>
              <a:t>LED </a:t>
            </a: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매트릭스가 </a:t>
            </a:r>
            <a:br>
              <a:rPr lang="en-US" altLang="ko-KR" sz="350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내장된 디스플레이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31B646A-6100-012C-97AD-13595CC8AA0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158" t="62067" r="12553" b="8822"/>
          <a:stretch/>
        </p:blipFill>
        <p:spPr>
          <a:xfrm>
            <a:off x="8203112" y="8921271"/>
            <a:ext cx="1440160" cy="55932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ED0E383-AF38-1B0A-02A2-AA9AF344CC3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9" b="947"/>
          <a:stretch/>
        </p:blipFill>
        <p:spPr>
          <a:xfrm>
            <a:off x="2647844" y="23329132"/>
            <a:ext cx="4900925" cy="37539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E489782-63E8-48D0-BD2C-1348E17A276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8" t="20606" r="16224" b="5254"/>
          <a:stretch/>
        </p:blipFill>
        <p:spPr>
          <a:xfrm>
            <a:off x="7602442" y="26617775"/>
            <a:ext cx="4170391" cy="235762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B61E46C-C890-215C-D5A1-1797B8C5792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38" t="9373" r="22782" b="6466"/>
          <a:stretch/>
        </p:blipFill>
        <p:spPr>
          <a:xfrm>
            <a:off x="12289532" y="23975775"/>
            <a:ext cx="6926422" cy="496855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9F54F31-006B-8EDC-F830-1D90664FB3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149" y="22571671"/>
            <a:ext cx="3989500" cy="428620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C306C8-4C19-B91D-6030-B46F27D47AC2}"/>
              </a:ext>
            </a:extLst>
          </p:cNvPr>
          <p:cNvSpPr txBox="1"/>
          <p:nvPr/>
        </p:nvSpPr>
        <p:spPr>
          <a:xfrm>
            <a:off x="13466387" y="22573484"/>
            <a:ext cx="4692615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인게임 화면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en-US" altLang="ko-KR" sz="350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종소리를 따라 이동하는 장면</a:t>
            </a:r>
            <a:r>
              <a:rPr lang="en-US" altLang="ko-KR" sz="350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EBB73C-1D44-04AC-B85A-94C9CE3B8EF0}"/>
              </a:ext>
            </a:extLst>
          </p:cNvPr>
          <p:cNvSpPr txBox="1"/>
          <p:nvPr/>
        </p:nvSpPr>
        <p:spPr>
          <a:xfrm>
            <a:off x="8598188" y="28669747"/>
            <a:ext cx="2107786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en-US" altLang="ko-KR" sz="3500">
                <a:solidFill>
                  <a:schemeClr val="tx1">
                    <a:lumMod val="95000"/>
                    <a:lumOff val="5000"/>
                  </a:schemeClr>
                </a:solidFill>
              </a:rPr>
              <a:t>ArUco</a:t>
            </a: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 마커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AFB5FAE-63B6-FACA-457A-95B7232E8FA4}"/>
              </a:ext>
            </a:extLst>
          </p:cNvPr>
          <p:cNvSpPr/>
          <p:nvPr/>
        </p:nvSpPr>
        <p:spPr>
          <a:xfrm>
            <a:off x="1977933" y="15088682"/>
            <a:ext cx="2131596" cy="375391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7A6D92-B30F-087C-E5BB-0CB7470EB1E7}"/>
              </a:ext>
            </a:extLst>
          </p:cNvPr>
          <p:cNvSpPr txBox="1"/>
          <p:nvPr/>
        </p:nvSpPr>
        <p:spPr>
          <a:xfrm>
            <a:off x="2584701" y="15161798"/>
            <a:ext cx="918059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준비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C87DE79-145E-3FFE-DC6C-51CFEC967788}"/>
              </a:ext>
            </a:extLst>
          </p:cNvPr>
          <p:cNvSpPr/>
          <p:nvPr/>
        </p:nvSpPr>
        <p:spPr>
          <a:xfrm>
            <a:off x="7707462" y="7225448"/>
            <a:ext cx="2369082" cy="2415543"/>
          </a:xfrm>
          <a:prstGeom prst="roundRect">
            <a:avLst/>
          </a:prstGeom>
          <a:noFill/>
          <a:ln w="38100">
            <a:solidFill>
              <a:srgbClr val="2FA4B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F0F2750C-4DE0-1FC1-9B5E-E826046445CE}"/>
              </a:ext>
            </a:extLst>
          </p:cNvPr>
          <p:cNvSpPr/>
          <p:nvPr/>
        </p:nvSpPr>
        <p:spPr>
          <a:xfrm>
            <a:off x="4210447" y="16789981"/>
            <a:ext cx="26719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5E9071A-7FD6-52C4-9613-A065673FA0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0305" y="15751315"/>
            <a:ext cx="1466850" cy="167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AA6FFAF-68D9-3C76-2CA8-106CED3D2B81}"/>
              </a:ext>
            </a:extLst>
          </p:cNvPr>
          <p:cNvSpPr txBox="1"/>
          <p:nvPr/>
        </p:nvSpPr>
        <p:spPr>
          <a:xfrm>
            <a:off x="2051801" y="17431879"/>
            <a:ext cx="1983858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눈을 감고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감각에 집중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5FDC821-FCED-94F9-8A97-1597D5A7E5ED}"/>
              </a:ext>
            </a:extLst>
          </p:cNvPr>
          <p:cNvSpPr/>
          <p:nvPr/>
        </p:nvSpPr>
        <p:spPr>
          <a:xfrm>
            <a:off x="1977932" y="19495914"/>
            <a:ext cx="17673403" cy="952202"/>
          </a:xfrm>
          <a:prstGeom prst="roundRect">
            <a:avLst/>
          </a:prstGeom>
          <a:gradFill flip="none" rotWithShape="1">
            <a:gsLst>
              <a:gs pos="0">
                <a:srgbClr val="00B0F0"/>
              </a:gs>
              <a:gs pos="31000">
                <a:srgbClr val="00B050"/>
              </a:gs>
              <a:gs pos="65000">
                <a:srgbClr val="7030A0"/>
              </a:gs>
              <a:gs pos="95000">
                <a:schemeClr val="accent5"/>
              </a:gs>
            </a:gsLst>
            <a:lin ang="2700000" scaled="1"/>
            <a:tileRect/>
          </a:gra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5EEFC65-CC94-F009-315E-5064DB795ECD}"/>
              </a:ext>
            </a:extLst>
          </p:cNvPr>
          <p:cNvGrpSpPr/>
          <p:nvPr/>
        </p:nvGrpSpPr>
        <p:grpSpPr>
          <a:xfrm>
            <a:off x="2769012" y="14616160"/>
            <a:ext cx="549435" cy="611312"/>
            <a:chOff x="3337784" y="15146495"/>
            <a:chExt cx="549435" cy="611312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1B5E3C2-BC63-83E0-BBD7-8E0348194426}"/>
                </a:ext>
              </a:extLst>
            </p:cNvPr>
            <p:cNvSpPr/>
            <p:nvPr/>
          </p:nvSpPr>
          <p:spPr>
            <a:xfrm>
              <a:off x="3337784" y="15182062"/>
              <a:ext cx="549435" cy="549435"/>
            </a:xfrm>
            <a:prstGeom prst="ellipse">
              <a:avLst/>
            </a:prstGeom>
            <a:solidFill>
              <a:srgbClr val="3B8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2BDD191-3CBA-A82C-9CC0-9ACE9D2C9A1F}"/>
                </a:ext>
              </a:extLst>
            </p:cNvPr>
            <p:cNvSpPr txBox="1"/>
            <p:nvPr/>
          </p:nvSpPr>
          <p:spPr>
            <a:xfrm>
              <a:off x="3441703" y="15146495"/>
              <a:ext cx="34159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500">
                  <a:solidFill>
                    <a:schemeClr val="bg1"/>
                  </a:solidFill>
                </a:rPr>
                <a:t>1</a:t>
              </a:r>
              <a:endParaRPr lang="en-US" altLang="ko-KR" sz="3500" dirty="0">
                <a:solidFill>
                  <a:schemeClr val="bg1"/>
                </a:solidFill>
              </a:endParaRPr>
            </a:p>
          </p:txBody>
        </p:sp>
      </p:grp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387D761-B7D1-BBE6-D9B2-E2C413DC94E7}"/>
              </a:ext>
            </a:extLst>
          </p:cNvPr>
          <p:cNvSpPr/>
          <p:nvPr/>
        </p:nvSpPr>
        <p:spPr>
          <a:xfrm>
            <a:off x="4568234" y="15076437"/>
            <a:ext cx="2131596" cy="375391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0DDEC5-E769-BE20-6798-6FFB1EE92643}"/>
              </a:ext>
            </a:extLst>
          </p:cNvPr>
          <p:cNvSpPr txBox="1"/>
          <p:nvPr/>
        </p:nvSpPr>
        <p:spPr>
          <a:xfrm>
            <a:off x="4663132" y="15149553"/>
            <a:ext cx="1983858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종소리 탐색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4C9514D9-0C8B-2B5D-3A73-DCB80821ED17}"/>
              </a:ext>
            </a:extLst>
          </p:cNvPr>
          <p:cNvSpPr/>
          <p:nvPr/>
        </p:nvSpPr>
        <p:spPr>
          <a:xfrm>
            <a:off x="6800748" y="16809380"/>
            <a:ext cx="26719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03A311-A744-B65F-5FBC-2D22E262C37B}"/>
              </a:ext>
            </a:extLst>
          </p:cNvPr>
          <p:cNvSpPr txBox="1"/>
          <p:nvPr/>
        </p:nvSpPr>
        <p:spPr>
          <a:xfrm>
            <a:off x="4642102" y="17419634"/>
            <a:ext cx="1983858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종소리 따라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이동하기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9786F14-59BE-B954-9D94-F3928BD2DA4F}"/>
              </a:ext>
            </a:extLst>
          </p:cNvPr>
          <p:cNvGrpSpPr/>
          <p:nvPr/>
        </p:nvGrpSpPr>
        <p:grpSpPr>
          <a:xfrm>
            <a:off x="5359313" y="14603915"/>
            <a:ext cx="549435" cy="611312"/>
            <a:chOff x="3337784" y="15146495"/>
            <a:chExt cx="549435" cy="611312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2B9715A2-706F-C43F-1F09-8E36A71D243C}"/>
                </a:ext>
              </a:extLst>
            </p:cNvPr>
            <p:cNvSpPr/>
            <p:nvPr/>
          </p:nvSpPr>
          <p:spPr>
            <a:xfrm>
              <a:off x="3337784" y="15182062"/>
              <a:ext cx="549435" cy="549435"/>
            </a:xfrm>
            <a:prstGeom prst="ellipse">
              <a:avLst/>
            </a:prstGeom>
            <a:solidFill>
              <a:srgbClr val="579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82161F5-0F3B-2EAD-7FF5-705010A0EF2B}"/>
                </a:ext>
              </a:extLst>
            </p:cNvPr>
            <p:cNvSpPr txBox="1"/>
            <p:nvPr/>
          </p:nvSpPr>
          <p:spPr>
            <a:xfrm>
              <a:off x="3441703" y="15146495"/>
              <a:ext cx="34159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500">
                  <a:solidFill>
                    <a:schemeClr val="bg1"/>
                  </a:solidFill>
                </a:rPr>
                <a:t>2</a:t>
              </a:r>
              <a:endParaRPr lang="en-US" altLang="ko-KR" sz="3500" dirty="0">
                <a:solidFill>
                  <a:schemeClr val="bg1"/>
                </a:solidFill>
              </a:endParaRPr>
            </a:p>
          </p:txBody>
        </p:sp>
      </p:grp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F510457B-E50B-0F3E-2EF0-31B4C7F5E4E0}"/>
              </a:ext>
            </a:extLst>
          </p:cNvPr>
          <p:cNvSpPr/>
          <p:nvPr/>
        </p:nvSpPr>
        <p:spPr>
          <a:xfrm>
            <a:off x="7158535" y="15086049"/>
            <a:ext cx="2131596" cy="375391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D3815C-3F9A-CA45-6C4A-4888D720F1F1}"/>
              </a:ext>
            </a:extLst>
          </p:cNvPr>
          <p:cNvSpPr txBox="1"/>
          <p:nvPr/>
        </p:nvSpPr>
        <p:spPr>
          <a:xfrm>
            <a:off x="7232404" y="15159165"/>
            <a:ext cx="1983858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비바람 뚫기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D3088619-515E-E8AD-18DD-F4CB04B390FB}"/>
              </a:ext>
            </a:extLst>
          </p:cNvPr>
          <p:cNvSpPr/>
          <p:nvPr/>
        </p:nvSpPr>
        <p:spPr>
          <a:xfrm>
            <a:off x="9391049" y="16818992"/>
            <a:ext cx="26719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C9CA1A-753A-8457-5C3C-E2E7BC05E263}"/>
              </a:ext>
            </a:extLst>
          </p:cNvPr>
          <p:cNvSpPr txBox="1"/>
          <p:nvPr/>
        </p:nvSpPr>
        <p:spPr>
          <a:xfrm>
            <a:off x="7090590" y="17429246"/>
            <a:ext cx="2267484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비바람 뚫고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소리 찾아가기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1A0097F4-457D-CF0B-469C-77789A9FC073}"/>
              </a:ext>
            </a:extLst>
          </p:cNvPr>
          <p:cNvGrpSpPr/>
          <p:nvPr/>
        </p:nvGrpSpPr>
        <p:grpSpPr>
          <a:xfrm>
            <a:off x="7949614" y="14613527"/>
            <a:ext cx="549435" cy="611312"/>
            <a:chOff x="3337784" y="15146495"/>
            <a:chExt cx="549435" cy="61131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FD38940-1DA6-8E94-F9AD-B299A3E35FE0}"/>
                </a:ext>
              </a:extLst>
            </p:cNvPr>
            <p:cNvSpPr/>
            <p:nvPr/>
          </p:nvSpPr>
          <p:spPr>
            <a:xfrm>
              <a:off x="3337784" y="15182062"/>
              <a:ext cx="549435" cy="549435"/>
            </a:xfrm>
            <a:prstGeom prst="ellipse">
              <a:avLst/>
            </a:prstGeom>
            <a:solidFill>
              <a:srgbClr val="176E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F56801D-32AA-F4C7-0A05-A89411466CD9}"/>
                </a:ext>
              </a:extLst>
            </p:cNvPr>
            <p:cNvSpPr txBox="1"/>
            <p:nvPr/>
          </p:nvSpPr>
          <p:spPr>
            <a:xfrm>
              <a:off x="3441703" y="15146495"/>
              <a:ext cx="34159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500">
                  <a:solidFill>
                    <a:schemeClr val="bg1"/>
                  </a:solidFill>
                </a:rPr>
                <a:t>3</a:t>
              </a:r>
              <a:endParaRPr lang="en-US" altLang="ko-KR" sz="3500" dirty="0">
                <a:solidFill>
                  <a:schemeClr val="bg1"/>
                </a:solidFill>
              </a:endParaRPr>
            </a:p>
          </p:txBody>
        </p:sp>
      </p:grp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54A7AB3-5F82-6D36-30D6-CD21C9BFB823}"/>
              </a:ext>
            </a:extLst>
          </p:cNvPr>
          <p:cNvSpPr/>
          <p:nvPr/>
        </p:nvSpPr>
        <p:spPr>
          <a:xfrm>
            <a:off x="9748836" y="15105448"/>
            <a:ext cx="2131596" cy="375391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9539F0-E872-4B38-2D0C-EC94D34B58B9}"/>
              </a:ext>
            </a:extLst>
          </p:cNvPr>
          <p:cNvSpPr txBox="1"/>
          <p:nvPr/>
        </p:nvSpPr>
        <p:spPr>
          <a:xfrm>
            <a:off x="9832230" y="15178564"/>
            <a:ext cx="1964808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종 바라보기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5" name="화살표: 오른쪽 84">
            <a:extLst>
              <a:ext uri="{FF2B5EF4-FFF2-40B4-BE49-F238E27FC236}">
                <a16:creationId xmlns:a16="http://schemas.microsoft.com/office/drawing/2014/main" id="{D148B6EF-3ADF-E7FA-2612-58C4D9ED0237}"/>
              </a:ext>
            </a:extLst>
          </p:cNvPr>
          <p:cNvSpPr/>
          <p:nvPr/>
        </p:nvSpPr>
        <p:spPr>
          <a:xfrm>
            <a:off x="11981350" y="16838391"/>
            <a:ext cx="26719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655D9A-E933-0F8A-AFA6-DE10AF4BE0A0}"/>
              </a:ext>
            </a:extLst>
          </p:cNvPr>
          <p:cNvSpPr txBox="1"/>
          <p:nvPr/>
        </p:nvSpPr>
        <p:spPr>
          <a:xfrm>
            <a:off x="9719642" y="17448645"/>
            <a:ext cx="2257927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머리 회전을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통해 바라보기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FAAB35D2-C92E-ACC5-7145-99CD31ECB6E1}"/>
              </a:ext>
            </a:extLst>
          </p:cNvPr>
          <p:cNvGrpSpPr/>
          <p:nvPr/>
        </p:nvGrpSpPr>
        <p:grpSpPr>
          <a:xfrm>
            <a:off x="10539915" y="14632926"/>
            <a:ext cx="549435" cy="611312"/>
            <a:chOff x="3337784" y="15146495"/>
            <a:chExt cx="549435" cy="611312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03B09C68-9617-9E36-1A9B-CEC2C7E2D007}"/>
                </a:ext>
              </a:extLst>
            </p:cNvPr>
            <p:cNvSpPr/>
            <p:nvPr/>
          </p:nvSpPr>
          <p:spPr>
            <a:xfrm>
              <a:off x="3337784" y="15182062"/>
              <a:ext cx="549435" cy="549435"/>
            </a:xfrm>
            <a:prstGeom prst="ellipse">
              <a:avLst/>
            </a:prstGeom>
            <a:solidFill>
              <a:srgbClr val="E3A4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CD5802C-8063-7327-F347-EEA709889226}"/>
                </a:ext>
              </a:extLst>
            </p:cNvPr>
            <p:cNvSpPr txBox="1"/>
            <p:nvPr/>
          </p:nvSpPr>
          <p:spPr>
            <a:xfrm>
              <a:off x="3441703" y="15146495"/>
              <a:ext cx="34159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500">
                  <a:solidFill>
                    <a:schemeClr val="bg1"/>
                  </a:solidFill>
                </a:rPr>
                <a:t>4</a:t>
              </a:r>
              <a:endParaRPr lang="en-US" altLang="ko-KR" sz="3500" dirty="0">
                <a:solidFill>
                  <a:schemeClr val="bg1"/>
                </a:solidFill>
              </a:endParaRPr>
            </a:p>
          </p:txBody>
        </p:sp>
      </p:grp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8896437-6EB8-E9C5-9E88-0467F017FD89}"/>
              </a:ext>
            </a:extLst>
          </p:cNvPr>
          <p:cNvSpPr/>
          <p:nvPr/>
        </p:nvSpPr>
        <p:spPr>
          <a:xfrm>
            <a:off x="12339137" y="15109485"/>
            <a:ext cx="2131596" cy="375391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2F3FA20-4884-ACE5-FD68-1AB35DA30BEF}"/>
              </a:ext>
            </a:extLst>
          </p:cNvPr>
          <p:cNvSpPr txBox="1"/>
          <p:nvPr/>
        </p:nvSpPr>
        <p:spPr>
          <a:xfrm>
            <a:off x="12540740" y="15182601"/>
            <a:ext cx="1728390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이명 정화 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1BCD8457-0878-757B-9B40-30CA3E726701}"/>
              </a:ext>
            </a:extLst>
          </p:cNvPr>
          <p:cNvSpPr/>
          <p:nvPr/>
        </p:nvSpPr>
        <p:spPr>
          <a:xfrm>
            <a:off x="14571651" y="16842428"/>
            <a:ext cx="26719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AEA472E-207F-B529-72CD-953780B74121}"/>
              </a:ext>
            </a:extLst>
          </p:cNvPr>
          <p:cNvSpPr txBox="1"/>
          <p:nvPr/>
        </p:nvSpPr>
        <p:spPr>
          <a:xfrm>
            <a:off x="12413005" y="17452682"/>
            <a:ext cx="1983858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패드 이동을 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통해 정화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6F86AF99-889D-3D23-A83E-C9821CF0D98E}"/>
              </a:ext>
            </a:extLst>
          </p:cNvPr>
          <p:cNvGrpSpPr/>
          <p:nvPr/>
        </p:nvGrpSpPr>
        <p:grpSpPr>
          <a:xfrm>
            <a:off x="13130216" y="14636963"/>
            <a:ext cx="549435" cy="611312"/>
            <a:chOff x="3337784" y="15146495"/>
            <a:chExt cx="549435" cy="611312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26FD7CEE-89D0-E946-1E92-C2700D945084}"/>
                </a:ext>
              </a:extLst>
            </p:cNvPr>
            <p:cNvSpPr/>
            <p:nvPr/>
          </p:nvSpPr>
          <p:spPr>
            <a:xfrm>
              <a:off x="3337784" y="15182062"/>
              <a:ext cx="549435" cy="549435"/>
            </a:xfrm>
            <a:prstGeom prst="ellipse">
              <a:avLst/>
            </a:prstGeom>
            <a:solidFill>
              <a:srgbClr val="764D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B50ED82-D477-333F-9A9F-BB9A0027917B}"/>
                </a:ext>
              </a:extLst>
            </p:cNvPr>
            <p:cNvSpPr txBox="1"/>
            <p:nvPr/>
          </p:nvSpPr>
          <p:spPr>
            <a:xfrm>
              <a:off x="3441703" y="15146495"/>
              <a:ext cx="34159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500">
                  <a:solidFill>
                    <a:schemeClr val="bg1"/>
                  </a:solidFill>
                </a:rPr>
                <a:t>5</a:t>
              </a:r>
              <a:endParaRPr lang="en-US" altLang="ko-KR" sz="3500" dirty="0">
                <a:solidFill>
                  <a:schemeClr val="bg1"/>
                </a:solidFill>
              </a:endParaRPr>
            </a:p>
          </p:txBody>
        </p:sp>
      </p:grp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77F43517-C304-FB1B-2D8E-8AD6825E295B}"/>
              </a:ext>
            </a:extLst>
          </p:cNvPr>
          <p:cNvSpPr/>
          <p:nvPr/>
        </p:nvSpPr>
        <p:spPr>
          <a:xfrm>
            <a:off x="14929438" y="15103897"/>
            <a:ext cx="2131596" cy="375391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D966255-98C8-4E9D-7EC8-891039CB7F56}"/>
              </a:ext>
            </a:extLst>
          </p:cNvPr>
          <p:cNvSpPr txBox="1"/>
          <p:nvPr/>
        </p:nvSpPr>
        <p:spPr>
          <a:xfrm>
            <a:off x="15171223" y="15177013"/>
            <a:ext cx="1648026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보스 이명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3AD3D64C-8C91-F0B8-0877-C78D1E0A4102}"/>
              </a:ext>
            </a:extLst>
          </p:cNvPr>
          <p:cNvSpPr/>
          <p:nvPr/>
        </p:nvSpPr>
        <p:spPr>
          <a:xfrm>
            <a:off x="17161952" y="16861827"/>
            <a:ext cx="26719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5037E91-A80F-D832-EEFF-E22CAAF932EE}"/>
              </a:ext>
            </a:extLst>
          </p:cNvPr>
          <p:cNvSpPr txBox="1"/>
          <p:nvPr/>
        </p:nvSpPr>
        <p:spPr>
          <a:xfrm>
            <a:off x="15003306" y="17447094"/>
            <a:ext cx="1983858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강화된 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이명</a:t>
            </a:r>
            <a:r>
              <a:rPr lang="en-US" altLang="ko-KR" sz="35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정화 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F8B30D17-6BE7-7857-2674-1FD5385F29CA}"/>
              </a:ext>
            </a:extLst>
          </p:cNvPr>
          <p:cNvGrpSpPr/>
          <p:nvPr/>
        </p:nvGrpSpPr>
        <p:grpSpPr>
          <a:xfrm>
            <a:off x="15720517" y="14631375"/>
            <a:ext cx="549435" cy="611312"/>
            <a:chOff x="3337784" y="15146495"/>
            <a:chExt cx="549435" cy="61131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99F1B62C-9666-AEA9-D4A6-0ABC72985595}"/>
                </a:ext>
              </a:extLst>
            </p:cNvPr>
            <p:cNvSpPr/>
            <p:nvPr/>
          </p:nvSpPr>
          <p:spPr>
            <a:xfrm>
              <a:off x="3337784" y="15182062"/>
              <a:ext cx="549435" cy="549435"/>
            </a:xfrm>
            <a:prstGeom prst="ellipse">
              <a:avLst/>
            </a:prstGeom>
            <a:solidFill>
              <a:srgbClr val="D222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DCDC2B2-64BF-1DC3-0A3B-E8F2C8BDEE53}"/>
                </a:ext>
              </a:extLst>
            </p:cNvPr>
            <p:cNvSpPr txBox="1"/>
            <p:nvPr/>
          </p:nvSpPr>
          <p:spPr>
            <a:xfrm>
              <a:off x="3441703" y="15146495"/>
              <a:ext cx="34159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500">
                  <a:solidFill>
                    <a:schemeClr val="bg1"/>
                  </a:solidFill>
                </a:rPr>
                <a:t>6</a:t>
              </a:r>
              <a:endParaRPr lang="en-US" altLang="ko-KR" sz="3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8ECBE195-6A64-4794-DB97-D8AB2A385AA6}"/>
              </a:ext>
            </a:extLst>
          </p:cNvPr>
          <p:cNvSpPr/>
          <p:nvPr/>
        </p:nvSpPr>
        <p:spPr>
          <a:xfrm>
            <a:off x="17519739" y="15103897"/>
            <a:ext cx="2131596" cy="375391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BFCFE50-5E86-ACED-FAB3-07AA815F4656}"/>
              </a:ext>
            </a:extLst>
          </p:cNvPr>
          <p:cNvSpPr txBox="1"/>
          <p:nvPr/>
        </p:nvSpPr>
        <p:spPr>
          <a:xfrm>
            <a:off x="17816285" y="15177013"/>
            <a:ext cx="1538504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숲 엔딩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6E6BC0-0599-2C2F-B46C-B9183C409C63}"/>
              </a:ext>
            </a:extLst>
          </p:cNvPr>
          <p:cNvSpPr txBox="1"/>
          <p:nvPr/>
        </p:nvSpPr>
        <p:spPr>
          <a:xfrm>
            <a:off x="17593607" y="17447094"/>
            <a:ext cx="1983858" cy="1303809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모든 이명</a:t>
            </a:r>
            <a:endParaRPr lang="en-US" altLang="ko-KR" sz="3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정화 후 평화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E8FA7BF2-E251-B41D-6368-AB166ED26CB1}"/>
              </a:ext>
            </a:extLst>
          </p:cNvPr>
          <p:cNvGrpSpPr/>
          <p:nvPr/>
        </p:nvGrpSpPr>
        <p:grpSpPr>
          <a:xfrm>
            <a:off x="18310818" y="14631375"/>
            <a:ext cx="549435" cy="611312"/>
            <a:chOff x="3337784" y="15146495"/>
            <a:chExt cx="549435" cy="611312"/>
          </a:xfrm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41598EFF-8C4F-A262-6ECD-ABD59622E668}"/>
                </a:ext>
              </a:extLst>
            </p:cNvPr>
            <p:cNvSpPr/>
            <p:nvPr/>
          </p:nvSpPr>
          <p:spPr>
            <a:xfrm>
              <a:off x="3337784" y="15182062"/>
              <a:ext cx="549435" cy="54943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334B368-86A9-BDCE-8BC9-3F492DF41F4D}"/>
                </a:ext>
              </a:extLst>
            </p:cNvPr>
            <p:cNvSpPr txBox="1"/>
            <p:nvPr/>
          </p:nvSpPr>
          <p:spPr>
            <a:xfrm>
              <a:off x="3441703" y="15146495"/>
              <a:ext cx="34159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500">
                  <a:solidFill>
                    <a:schemeClr val="bg1"/>
                  </a:solidFill>
                </a:rPr>
                <a:t>7</a:t>
              </a:r>
              <a:endParaRPr lang="en-US" altLang="ko-KR" sz="3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9F6FCB88-A584-D07F-C844-62D09F96468B}"/>
              </a:ext>
            </a:extLst>
          </p:cNvPr>
          <p:cNvSpPr/>
          <p:nvPr/>
        </p:nvSpPr>
        <p:spPr>
          <a:xfrm>
            <a:off x="2051801" y="19572847"/>
            <a:ext cx="17525664" cy="817960"/>
          </a:xfrm>
          <a:prstGeom prst="roundRect">
            <a:avLst>
              <a:gd name="adj" fmla="val 11574"/>
            </a:avLst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7764A3-A62A-81D4-C677-9B7EED120B0B}"/>
              </a:ext>
            </a:extLst>
          </p:cNvPr>
          <p:cNvSpPr txBox="1"/>
          <p:nvPr/>
        </p:nvSpPr>
        <p:spPr>
          <a:xfrm>
            <a:off x="7796295" y="7366526"/>
            <a:ext cx="2214623" cy="1611586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ko-KR" altLang="en-US" sz="3000">
                <a:solidFill>
                  <a:srgbClr val="225E65"/>
                </a:solidFill>
              </a:rPr>
              <a:t>이 게임은</a:t>
            </a:r>
            <a:br>
              <a:rPr lang="en-US" altLang="ko-KR" sz="3500">
                <a:solidFill>
                  <a:srgbClr val="225E65"/>
                </a:solidFill>
              </a:rPr>
            </a:br>
            <a:r>
              <a:rPr lang="ko-KR" altLang="en-US" sz="3500">
                <a:solidFill>
                  <a:srgbClr val="225E65"/>
                </a:solidFill>
              </a:rPr>
              <a:t>눈을 감고</a:t>
            </a:r>
            <a:br>
              <a:rPr lang="en-US" altLang="ko-KR" sz="3500">
                <a:solidFill>
                  <a:srgbClr val="225E65"/>
                </a:solidFill>
              </a:rPr>
            </a:br>
            <a:r>
              <a:rPr lang="ko-KR" altLang="en-US" sz="3500">
                <a:solidFill>
                  <a:srgbClr val="225E65"/>
                </a:solidFill>
              </a:rPr>
              <a:t>플레이합니다</a:t>
            </a:r>
            <a:endParaRPr lang="en-US" altLang="ko-KR" sz="3500">
              <a:solidFill>
                <a:srgbClr val="225E65"/>
              </a:solidFill>
            </a:endParaRP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36695D0-D644-D220-D0B7-9E7C3BC4C8D4}"/>
              </a:ext>
            </a:extLst>
          </p:cNvPr>
          <p:cNvCxnSpPr>
            <a:cxnSpLocks/>
          </p:cNvCxnSpPr>
          <p:nvPr/>
        </p:nvCxnSpPr>
        <p:spPr>
          <a:xfrm>
            <a:off x="10655746" y="5568355"/>
            <a:ext cx="0" cy="8277429"/>
          </a:xfrm>
          <a:prstGeom prst="line">
            <a:avLst/>
          </a:prstGeom>
          <a:ln w="38100">
            <a:solidFill>
              <a:srgbClr val="C9C9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B36EFF0-837B-103E-21F8-63B7920C3EA7}"/>
              </a:ext>
            </a:extLst>
          </p:cNvPr>
          <p:cNvSpPr/>
          <p:nvPr/>
        </p:nvSpPr>
        <p:spPr>
          <a:xfrm>
            <a:off x="2378289" y="9862940"/>
            <a:ext cx="7643285" cy="1506263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7D6CDF6F-979D-D50E-C3C8-6306290D312F}"/>
              </a:ext>
            </a:extLst>
          </p:cNvPr>
          <p:cNvSpPr/>
          <p:nvPr/>
        </p:nvSpPr>
        <p:spPr>
          <a:xfrm>
            <a:off x="2367633" y="11919436"/>
            <a:ext cx="7643285" cy="1788294"/>
          </a:xfrm>
          <a:prstGeom prst="roundRect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8EFF848-4911-7541-2434-220FA02BB58C}"/>
              </a:ext>
            </a:extLst>
          </p:cNvPr>
          <p:cNvSpPr txBox="1"/>
          <p:nvPr/>
        </p:nvSpPr>
        <p:spPr>
          <a:xfrm>
            <a:off x="2613706" y="10812870"/>
            <a:ext cx="1464616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ko-KR" altLang="en-US" sz="3000">
                <a:solidFill>
                  <a:schemeClr val="tx1"/>
                </a:solidFill>
              </a:rPr>
              <a:t>공간 음향</a:t>
            </a:r>
            <a:endParaRPr lang="en-US" altLang="ko-KR" sz="3500">
              <a:solidFill>
                <a:schemeClr val="tx1"/>
              </a:solidFill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1AA56951-E784-3909-30A0-EEC4FADB258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13483" r="17553"/>
          <a:stretch/>
        </p:blipFill>
        <p:spPr>
          <a:xfrm>
            <a:off x="11466205" y="10300198"/>
            <a:ext cx="1449024" cy="1604769"/>
          </a:xfrm>
          <a:prstGeom prst="rect">
            <a:avLst/>
          </a:prstGeom>
        </p:spPr>
      </p:pic>
      <p:pic>
        <p:nvPicPr>
          <p:cNvPr id="135" name="그림 134">
            <a:extLst>
              <a:ext uri="{FF2B5EF4-FFF2-40B4-BE49-F238E27FC236}">
                <a16:creationId xmlns:a16="http://schemas.microsoft.com/office/drawing/2014/main" id="{58420799-79C1-816A-DFC6-CA5B0410945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0319" y="15712926"/>
            <a:ext cx="1666875" cy="1828800"/>
          </a:xfrm>
          <a:prstGeom prst="rect">
            <a:avLst/>
          </a:prstGeom>
        </p:spPr>
      </p:pic>
      <p:pic>
        <p:nvPicPr>
          <p:cNvPr id="137" name="그림 136">
            <a:extLst>
              <a:ext uri="{FF2B5EF4-FFF2-40B4-BE49-F238E27FC236}">
                <a16:creationId xmlns:a16="http://schemas.microsoft.com/office/drawing/2014/main" id="{4F8C94D0-4E3B-5B9E-E2FC-E16F28DFC6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0003" y="15666950"/>
            <a:ext cx="1768052" cy="1809899"/>
          </a:xfrm>
          <a:prstGeom prst="rect">
            <a:avLst/>
          </a:prstGeom>
        </p:spPr>
      </p:pic>
      <p:pic>
        <p:nvPicPr>
          <p:cNvPr id="139" name="그림 138">
            <a:extLst>
              <a:ext uri="{FF2B5EF4-FFF2-40B4-BE49-F238E27FC236}">
                <a16:creationId xmlns:a16="http://schemas.microsoft.com/office/drawing/2014/main" id="{98EC8F60-39D3-304C-FA8F-D0AEF4A7FC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45076" y="15691158"/>
            <a:ext cx="1739110" cy="1799426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6B8D1C80-3829-14C5-5753-F1A16C6AD8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92331" y="15716317"/>
            <a:ext cx="1656025" cy="1781008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1E8061F9-2CD4-B3F1-E0D8-9B9F41EDFC6D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4033" b="3550"/>
          <a:stretch/>
        </p:blipFill>
        <p:spPr>
          <a:xfrm>
            <a:off x="15141908" y="15717232"/>
            <a:ext cx="1724025" cy="1778149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26444A0E-E00B-67C8-0CFD-5BA6D4899B89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6311"/>
          <a:stretch/>
        </p:blipFill>
        <p:spPr>
          <a:xfrm>
            <a:off x="17750065" y="15707583"/>
            <a:ext cx="1670937" cy="1794142"/>
          </a:xfrm>
          <a:prstGeom prst="rect">
            <a:avLst/>
          </a:prstGeom>
        </p:spPr>
      </p:pic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ADEE7DF2-B1A5-6216-1DFE-62B733B7B24A}"/>
              </a:ext>
            </a:extLst>
          </p:cNvPr>
          <p:cNvSpPr/>
          <p:nvPr/>
        </p:nvSpPr>
        <p:spPr>
          <a:xfrm>
            <a:off x="4853199" y="11482072"/>
            <a:ext cx="2778212" cy="597622"/>
          </a:xfrm>
          <a:prstGeom prst="roundRect">
            <a:avLst>
              <a:gd name="adj" fmla="val 22822"/>
            </a:avLst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55F2DC6-7021-44A6-A811-E533A81EF52B}"/>
              </a:ext>
            </a:extLst>
          </p:cNvPr>
          <p:cNvSpPr txBox="1"/>
          <p:nvPr/>
        </p:nvSpPr>
        <p:spPr>
          <a:xfrm>
            <a:off x="4868584" y="11506806"/>
            <a:ext cx="2778212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ko-KR" altLang="en-US" sz="3000">
                <a:solidFill>
                  <a:schemeClr val="tx1"/>
                </a:solidFill>
              </a:rPr>
              <a:t>핵심 하드웨어 구성</a:t>
            </a:r>
            <a:endParaRPr lang="en-US" altLang="ko-KR" sz="3500">
              <a:solidFill>
                <a:schemeClr val="tx1"/>
              </a:solidFill>
            </a:endParaRP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D2645DDD-248D-E817-A3E5-D2F39FDB37B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94401" y="12162721"/>
            <a:ext cx="904656" cy="1002217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9070F753-2E89-4D45-DC08-6D1CAD375CF5}"/>
              </a:ext>
            </a:extLst>
          </p:cNvPr>
          <p:cNvSpPr txBox="1"/>
          <p:nvPr/>
        </p:nvSpPr>
        <p:spPr>
          <a:xfrm>
            <a:off x="2392431" y="13170130"/>
            <a:ext cx="2175803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en-US" altLang="ko-KR" sz="3000">
                <a:solidFill>
                  <a:schemeClr val="tx1"/>
                </a:solidFill>
              </a:rPr>
              <a:t>ESP32-S3</a:t>
            </a:r>
          </a:p>
        </p:txBody>
      </p:sp>
      <p:pic>
        <p:nvPicPr>
          <p:cNvPr id="153" name="그림 152">
            <a:extLst>
              <a:ext uri="{FF2B5EF4-FFF2-40B4-BE49-F238E27FC236}">
                <a16:creationId xmlns:a16="http://schemas.microsoft.com/office/drawing/2014/main" id="{9DBE8BE0-4523-AE00-482D-7C3962E4A9D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84808" y="12269404"/>
            <a:ext cx="824145" cy="809092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F6F3E2AF-8274-7FAF-4AEB-599620E099F6}"/>
              </a:ext>
            </a:extLst>
          </p:cNvPr>
          <p:cNvSpPr txBox="1"/>
          <p:nvPr/>
        </p:nvSpPr>
        <p:spPr>
          <a:xfrm>
            <a:off x="4509066" y="13158151"/>
            <a:ext cx="1533443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en-US" altLang="ko-KR" sz="3000">
                <a:solidFill>
                  <a:schemeClr val="tx1"/>
                </a:solidFill>
              </a:rPr>
              <a:t>WS LED</a:t>
            </a:r>
          </a:p>
        </p:txBody>
      </p:sp>
      <p:pic>
        <p:nvPicPr>
          <p:cNvPr id="156" name="그림 155">
            <a:extLst>
              <a:ext uri="{FF2B5EF4-FFF2-40B4-BE49-F238E27FC236}">
                <a16:creationId xmlns:a16="http://schemas.microsoft.com/office/drawing/2014/main" id="{5F9C9CD9-2064-85E9-6FB0-A2BD067F7CB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11466" y="12183285"/>
            <a:ext cx="942541" cy="1014697"/>
          </a:xfrm>
          <a:prstGeom prst="rect">
            <a:avLst/>
          </a:prstGeom>
        </p:spPr>
      </p:pic>
      <p:pic>
        <p:nvPicPr>
          <p:cNvPr id="158" name="그림 157">
            <a:extLst>
              <a:ext uri="{FF2B5EF4-FFF2-40B4-BE49-F238E27FC236}">
                <a16:creationId xmlns:a16="http://schemas.microsoft.com/office/drawing/2014/main" id="{572C665B-9815-54ED-FB90-61D828509DB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18743" y="12310361"/>
            <a:ext cx="764569" cy="832156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3B6AF56B-E5ED-A555-F15D-FC8323EE5281}"/>
              </a:ext>
            </a:extLst>
          </p:cNvPr>
          <p:cNvSpPr txBox="1"/>
          <p:nvPr/>
        </p:nvSpPr>
        <p:spPr>
          <a:xfrm>
            <a:off x="7907968" y="13158042"/>
            <a:ext cx="2175803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en-US" altLang="ko-KR" sz="3000">
                <a:solidFill>
                  <a:schemeClr val="tx1"/>
                </a:solidFill>
              </a:rPr>
              <a:t>ArUco </a:t>
            </a:r>
            <a:r>
              <a:rPr lang="ko-KR" altLang="en-US" sz="3000">
                <a:solidFill>
                  <a:schemeClr val="tx1"/>
                </a:solidFill>
              </a:rPr>
              <a:t>마커</a:t>
            </a:r>
            <a:endParaRPr lang="en-US" altLang="ko-KR" sz="300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99F9F58-EE8C-D130-F609-E32FCDC2D453}"/>
              </a:ext>
            </a:extLst>
          </p:cNvPr>
          <p:cNvSpPr txBox="1"/>
          <p:nvPr/>
        </p:nvSpPr>
        <p:spPr>
          <a:xfrm>
            <a:off x="5991419" y="13173598"/>
            <a:ext cx="2175803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en-US" altLang="ko-KR" sz="3000">
                <a:solidFill>
                  <a:schemeClr val="tx1"/>
                </a:solidFill>
              </a:rPr>
              <a:t>MPU-9250</a:t>
            </a:r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6755E8D2-453E-DBEC-02EB-735A18A64880}"/>
              </a:ext>
            </a:extLst>
          </p:cNvPr>
          <p:cNvSpPr/>
          <p:nvPr/>
        </p:nvSpPr>
        <p:spPr>
          <a:xfrm>
            <a:off x="2872931" y="9959407"/>
            <a:ext cx="898999" cy="898999"/>
          </a:xfrm>
          <a:prstGeom prst="ellipse">
            <a:avLst/>
          </a:prstGeom>
          <a:noFill/>
          <a:ln w="3810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7BDB0CC1-8F18-3B0E-3A49-BBEE8BF4B506}"/>
              </a:ext>
            </a:extLst>
          </p:cNvPr>
          <p:cNvSpPr/>
          <p:nvPr/>
        </p:nvSpPr>
        <p:spPr>
          <a:xfrm>
            <a:off x="11216968" y="8337257"/>
            <a:ext cx="7643285" cy="174254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4" name="그림 163">
            <a:extLst>
              <a:ext uri="{FF2B5EF4-FFF2-40B4-BE49-F238E27FC236}">
                <a16:creationId xmlns:a16="http://schemas.microsoft.com/office/drawing/2014/main" id="{01189BA7-CBEF-6B70-2EBD-7BEA9288FE1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454404" y="8443857"/>
            <a:ext cx="2257866" cy="1581267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4280DFC1-B332-0789-827B-CF9F15F9C083}"/>
              </a:ext>
            </a:extLst>
          </p:cNvPr>
          <p:cNvSpPr txBox="1"/>
          <p:nvPr/>
        </p:nvSpPr>
        <p:spPr>
          <a:xfrm>
            <a:off x="13897694" y="8385058"/>
            <a:ext cx="4607281" cy="1688530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>
              <a:buClr>
                <a:srgbClr val="1DAF88"/>
              </a:buClr>
              <a:buNone/>
            </a:pPr>
            <a:r>
              <a:rPr lang="en-US" altLang="ko-KR" sz="3500"/>
              <a:t>ArUco </a:t>
            </a:r>
            <a:r>
              <a:rPr lang="ko-KR" altLang="en-US" sz="3500"/>
              <a:t>기반 패드 위치 추적</a:t>
            </a:r>
            <a:endParaRPr lang="en-US" altLang="ko-KR" sz="3500"/>
          </a:p>
          <a:p>
            <a:pPr marL="0" indent="0">
              <a:buClr>
                <a:srgbClr val="1DAF88"/>
              </a:buClr>
              <a:buNone/>
            </a:pPr>
            <a:r>
              <a:rPr lang="ko-KR" altLang="en-US" sz="3000"/>
              <a:t>패드의 </a:t>
            </a:r>
            <a:r>
              <a:rPr lang="en-US" altLang="ko-KR" sz="3000"/>
              <a:t>ArUco </a:t>
            </a:r>
            <a:r>
              <a:rPr lang="ko-KR" altLang="en-US" sz="3000"/>
              <a:t>마커를 카메라로 </a:t>
            </a:r>
            <a:br>
              <a:rPr lang="en-US" altLang="ko-KR" sz="3000"/>
            </a:br>
            <a:r>
              <a:rPr lang="ko-KR" altLang="en-US" sz="3000"/>
              <a:t>인식 하여 공간 좌표를 실시간 추적</a:t>
            </a:r>
            <a:endParaRPr lang="en-US" altLang="ko-KR" sz="3000" dirty="0"/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D0779B59-30C6-AA34-8FF8-3B6C49B5A0EB}"/>
              </a:ext>
            </a:extLst>
          </p:cNvPr>
          <p:cNvSpPr/>
          <p:nvPr/>
        </p:nvSpPr>
        <p:spPr>
          <a:xfrm>
            <a:off x="11216968" y="10225176"/>
            <a:ext cx="7643285" cy="174254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84222C1-5740-7BF8-9531-9F9F0E5AB4EA}"/>
              </a:ext>
            </a:extLst>
          </p:cNvPr>
          <p:cNvSpPr txBox="1"/>
          <p:nvPr/>
        </p:nvSpPr>
        <p:spPr>
          <a:xfrm>
            <a:off x="13897694" y="10272977"/>
            <a:ext cx="4783313" cy="1688530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>
              <a:buClr>
                <a:srgbClr val="1DAF88"/>
              </a:buClr>
              <a:buNone/>
            </a:pPr>
            <a:r>
              <a:rPr lang="en-US" altLang="ko-KR" sz="3500"/>
              <a:t>IMU </a:t>
            </a:r>
            <a:r>
              <a:rPr lang="ko-KR" altLang="en-US" sz="3500"/>
              <a:t>기반 회전 감지</a:t>
            </a:r>
            <a:endParaRPr lang="en-US" altLang="ko-KR" sz="3500"/>
          </a:p>
          <a:p>
            <a:pPr marL="0" indent="0">
              <a:buClr>
                <a:srgbClr val="1DAF88"/>
              </a:buClr>
              <a:buNone/>
            </a:pPr>
            <a:r>
              <a:rPr lang="en-US" altLang="ko-KR" sz="3000"/>
              <a:t>Pitch</a:t>
            </a:r>
            <a:r>
              <a:rPr lang="ko-KR" altLang="en-US" sz="3000"/>
              <a:t>와 </a:t>
            </a:r>
            <a:r>
              <a:rPr lang="en-US" altLang="ko-KR" sz="3000"/>
              <a:t>roll </a:t>
            </a:r>
            <a:r>
              <a:rPr lang="ko-KR" altLang="en-US" sz="3000"/>
              <a:t>회전 값은 </a:t>
            </a:r>
            <a:r>
              <a:rPr lang="en-US" altLang="ko-KR" sz="3000"/>
              <a:t>IMU </a:t>
            </a:r>
            <a:r>
              <a:rPr lang="ko-KR" altLang="en-US" sz="3000"/>
              <a:t>기반</a:t>
            </a:r>
            <a:r>
              <a:rPr lang="en-US" altLang="ko-KR" sz="3000"/>
              <a:t>, yaw</a:t>
            </a:r>
            <a:r>
              <a:rPr lang="ko-KR" altLang="en-US" sz="3000"/>
              <a:t>는 </a:t>
            </a:r>
            <a:r>
              <a:rPr lang="en-US" altLang="ko-KR" sz="3000"/>
              <a:t>ArUco</a:t>
            </a:r>
            <a:r>
              <a:rPr lang="ko-KR" altLang="en-US" sz="3000"/>
              <a:t>를 통해 회전을 추적</a:t>
            </a:r>
            <a:endParaRPr lang="en-US" altLang="ko-KR" sz="3000" dirty="0"/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B6A049D2-CA76-D1C4-F33F-91BC28130A77}"/>
              </a:ext>
            </a:extLst>
          </p:cNvPr>
          <p:cNvSpPr/>
          <p:nvPr/>
        </p:nvSpPr>
        <p:spPr>
          <a:xfrm>
            <a:off x="11216968" y="12113095"/>
            <a:ext cx="7643285" cy="1742548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0F6D90A-CA74-EB77-8384-A43FE04B7A46}"/>
              </a:ext>
            </a:extLst>
          </p:cNvPr>
          <p:cNvSpPr txBox="1"/>
          <p:nvPr/>
        </p:nvSpPr>
        <p:spPr>
          <a:xfrm>
            <a:off x="13897694" y="12160896"/>
            <a:ext cx="4931789" cy="1688530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>
              <a:buClr>
                <a:srgbClr val="1DAF88"/>
              </a:buClr>
              <a:buNone/>
            </a:pPr>
            <a:r>
              <a:rPr lang="ko-KR" altLang="en-US" sz="3500"/>
              <a:t>폐안 상태에서 구별되는 색 선정</a:t>
            </a:r>
            <a:endParaRPr lang="en-US" altLang="ko-KR" sz="3000"/>
          </a:p>
          <a:p>
            <a:pPr marL="0" indent="0">
              <a:buClr>
                <a:srgbClr val="1DAF88"/>
              </a:buClr>
              <a:buNone/>
            </a:pPr>
            <a:r>
              <a:rPr lang="ko-KR" altLang="en-US" sz="3000"/>
              <a:t>눈을 감은 채 구분이 쉬운 푸른 계열의</a:t>
            </a:r>
            <a:br>
              <a:rPr lang="en-US" altLang="ko-KR" sz="3000"/>
            </a:br>
            <a:r>
              <a:rPr lang="ko-KR" altLang="en-US" sz="3000"/>
              <a:t>색을 사용하여 빛을 명확히 구분</a:t>
            </a:r>
            <a:endParaRPr lang="en-US" altLang="ko-KR" sz="3000"/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DBB32285-E949-E810-DCCA-92711CEF197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547081" y="12365792"/>
            <a:ext cx="2054192" cy="1281624"/>
          </a:xfrm>
          <a:prstGeom prst="rect">
            <a:avLst/>
          </a:prstGeom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4F41B1C6-53D7-6CB8-686E-A88B0296225C}"/>
              </a:ext>
            </a:extLst>
          </p:cNvPr>
          <p:cNvSpPr txBox="1"/>
          <p:nvPr/>
        </p:nvSpPr>
        <p:spPr>
          <a:xfrm>
            <a:off x="11776168" y="10165683"/>
            <a:ext cx="974970" cy="457424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>
              <a:buClr>
                <a:srgbClr val="1DAF88"/>
              </a:buClr>
              <a:buNone/>
            </a:pPr>
            <a:r>
              <a:rPr lang="en-US" altLang="ko-KR" sz="2500"/>
              <a:t>yaw</a:t>
            </a:r>
            <a:endParaRPr lang="en-US" altLang="ko-KR" sz="2500" dirty="0"/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8C443A50-750D-DCA5-D8B1-DA6235D1A95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535223" y="10316358"/>
            <a:ext cx="548485" cy="590475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7E6AE773-F94A-8889-2E9A-A91C6DBE1F62}"/>
              </a:ext>
            </a:extLst>
          </p:cNvPr>
          <p:cNvSpPr txBox="1"/>
          <p:nvPr/>
        </p:nvSpPr>
        <p:spPr>
          <a:xfrm>
            <a:off x="12563681" y="11279725"/>
            <a:ext cx="974970" cy="457424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>
              <a:buClr>
                <a:srgbClr val="1DAF88"/>
              </a:buClr>
              <a:buNone/>
            </a:pPr>
            <a:r>
              <a:rPr lang="en-US" altLang="ko-KR" sz="2500"/>
              <a:t>pitch</a:t>
            </a:r>
            <a:endParaRPr lang="en-US" altLang="ko-KR" sz="25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329556B-D80E-FE70-5103-01EAFEF84923}"/>
              </a:ext>
            </a:extLst>
          </p:cNvPr>
          <p:cNvSpPr txBox="1"/>
          <p:nvPr/>
        </p:nvSpPr>
        <p:spPr>
          <a:xfrm>
            <a:off x="12207346" y="10961747"/>
            <a:ext cx="769969" cy="457424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>
              <a:buClr>
                <a:srgbClr val="1DAF88"/>
              </a:buClr>
              <a:buNone/>
            </a:pPr>
            <a:r>
              <a:rPr lang="en-US" altLang="ko-KR" sz="2500"/>
              <a:t>roll</a:t>
            </a:r>
            <a:endParaRPr lang="en-US" altLang="ko-KR" sz="2500" dirty="0"/>
          </a:p>
        </p:txBody>
      </p:sp>
      <p:pic>
        <p:nvPicPr>
          <p:cNvPr id="180" name="그림 179">
            <a:extLst>
              <a:ext uri="{FF2B5EF4-FFF2-40B4-BE49-F238E27FC236}">
                <a16:creationId xmlns:a16="http://schemas.microsoft.com/office/drawing/2014/main" id="{D68BC0A7-277B-E9BF-062B-BE8056EFCDD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144870" y="10346543"/>
            <a:ext cx="494202" cy="537889"/>
          </a:xfrm>
          <a:prstGeom prst="rect">
            <a:avLst/>
          </a:prstGeom>
        </p:spPr>
      </p:pic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E5903B01-9602-2A96-82F1-98AD3462BC0A}"/>
              </a:ext>
            </a:extLst>
          </p:cNvPr>
          <p:cNvGrpSpPr/>
          <p:nvPr/>
        </p:nvGrpSpPr>
        <p:grpSpPr>
          <a:xfrm>
            <a:off x="2341310" y="19623534"/>
            <a:ext cx="3147875" cy="676182"/>
            <a:chOff x="2341310" y="19860600"/>
            <a:chExt cx="3147875" cy="676182"/>
          </a:xfrm>
        </p:grpSpPr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9105370E-E3EF-3BEB-0282-CFA4ACEED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341310" y="19860600"/>
              <a:ext cx="532221" cy="676182"/>
            </a:xfrm>
            <a:prstGeom prst="rect">
              <a:avLst/>
            </a:prstGeom>
          </p:spPr>
        </p:pic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918882E2-4AA5-423C-51D8-529AB6B4ED12}"/>
                </a:ext>
              </a:extLst>
            </p:cNvPr>
            <p:cNvSpPr txBox="1"/>
            <p:nvPr/>
          </p:nvSpPr>
          <p:spPr>
            <a:xfrm>
              <a:off x="2954641" y="19909270"/>
              <a:ext cx="2534544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500">
                  <a:solidFill>
                    <a:srgbClr val="06BA5C"/>
                  </a:solidFill>
                </a:rPr>
                <a:t>종 소리 </a:t>
              </a:r>
              <a:r>
                <a:rPr lang="en-US" altLang="ko-KR" sz="3500">
                  <a:solidFill>
                    <a:srgbClr val="06BA5C"/>
                  </a:solidFill>
                </a:rPr>
                <a:t>= </a:t>
              </a:r>
              <a:r>
                <a:rPr lang="ko-KR" altLang="en-US" sz="3500">
                  <a:solidFill>
                    <a:srgbClr val="06BA5C"/>
                  </a:solidFill>
                </a:rPr>
                <a:t>초록</a:t>
              </a:r>
              <a:endParaRPr lang="en-US" altLang="ko-KR" sz="3500" dirty="0">
                <a:solidFill>
                  <a:srgbClr val="06BA5C"/>
                </a:solidFill>
              </a:endParaRPr>
            </a:p>
          </p:txBody>
        </p:sp>
      </p:grpSp>
      <p:grpSp>
        <p:nvGrpSpPr>
          <p:cNvPr id="1056" name="그룹 1055">
            <a:extLst>
              <a:ext uri="{FF2B5EF4-FFF2-40B4-BE49-F238E27FC236}">
                <a16:creationId xmlns:a16="http://schemas.microsoft.com/office/drawing/2014/main" id="{107E408C-CEB4-B777-38E4-30BA896F8CEE}"/>
              </a:ext>
            </a:extLst>
          </p:cNvPr>
          <p:cNvGrpSpPr/>
          <p:nvPr/>
        </p:nvGrpSpPr>
        <p:grpSpPr>
          <a:xfrm>
            <a:off x="5935644" y="19587862"/>
            <a:ext cx="3405747" cy="781157"/>
            <a:chOff x="5985302" y="19824928"/>
            <a:chExt cx="3405747" cy="781157"/>
          </a:xfrm>
        </p:grpSpPr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4F853C38-FC3F-5F82-882E-87A42CEC4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985302" y="19824928"/>
              <a:ext cx="753259" cy="781157"/>
            </a:xfrm>
            <a:prstGeom prst="rect">
              <a:avLst/>
            </a:prstGeom>
          </p:spPr>
        </p:pic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550C53E-BCF4-F48F-20C2-2875A5A4F9A3}"/>
                </a:ext>
              </a:extLst>
            </p:cNvPr>
            <p:cNvSpPr txBox="1"/>
            <p:nvPr/>
          </p:nvSpPr>
          <p:spPr>
            <a:xfrm>
              <a:off x="6856505" y="19916323"/>
              <a:ext cx="2534544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500">
                  <a:solidFill>
                    <a:schemeClr val="accent1"/>
                  </a:solidFill>
                </a:rPr>
                <a:t>비 </a:t>
              </a:r>
              <a:r>
                <a:rPr lang="en-US" altLang="ko-KR" sz="3500">
                  <a:solidFill>
                    <a:schemeClr val="accent1"/>
                  </a:solidFill>
                </a:rPr>
                <a:t>= </a:t>
              </a:r>
              <a:r>
                <a:rPr lang="ko-KR" altLang="en-US" sz="3500">
                  <a:solidFill>
                    <a:schemeClr val="accent1"/>
                  </a:solidFill>
                </a:rPr>
                <a:t>짙은 파랑</a:t>
              </a:r>
              <a:endParaRPr lang="en-US" altLang="ko-KR" sz="35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58" name="그룹 1057">
            <a:extLst>
              <a:ext uri="{FF2B5EF4-FFF2-40B4-BE49-F238E27FC236}">
                <a16:creationId xmlns:a16="http://schemas.microsoft.com/office/drawing/2014/main" id="{22F575AE-B52C-1830-EE5D-AE8F77FA9B49}"/>
              </a:ext>
            </a:extLst>
          </p:cNvPr>
          <p:cNvGrpSpPr/>
          <p:nvPr/>
        </p:nvGrpSpPr>
        <p:grpSpPr>
          <a:xfrm>
            <a:off x="9873809" y="19633264"/>
            <a:ext cx="2539196" cy="694068"/>
            <a:chOff x="9799941" y="19870330"/>
            <a:chExt cx="2539196" cy="694068"/>
          </a:xfrm>
        </p:grpSpPr>
        <p:pic>
          <p:nvPicPr>
            <p:cNvPr id="189" name="그림 188">
              <a:extLst>
                <a:ext uri="{FF2B5EF4-FFF2-40B4-BE49-F238E27FC236}">
                  <a16:creationId xmlns:a16="http://schemas.microsoft.com/office/drawing/2014/main" id="{CBCCF65A-5DC4-FA53-570A-F0A91ABD4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9799941" y="19870330"/>
              <a:ext cx="694068" cy="694068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99293EC-A34E-2C75-92E6-6FA9B5BF7979}"/>
                </a:ext>
              </a:extLst>
            </p:cNvPr>
            <p:cNvSpPr txBox="1"/>
            <p:nvPr/>
          </p:nvSpPr>
          <p:spPr>
            <a:xfrm>
              <a:off x="10595672" y="19940356"/>
              <a:ext cx="1743465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50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벽 </a:t>
              </a:r>
              <a:r>
                <a:rPr lang="en-US" altLang="ko-KR" sz="350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= </a:t>
              </a:r>
              <a:r>
                <a:rPr lang="ko-KR" altLang="en-US" sz="350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청록</a:t>
              </a:r>
              <a:endParaRPr lang="en-US" altLang="ko-KR" sz="350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CE4FECFA-4276-ACED-5B79-19F1FF2E2BC0}"/>
              </a:ext>
            </a:extLst>
          </p:cNvPr>
          <p:cNvGrpSpPr/>
          <p:nvPr/>
        </p:nvGrpSpPr>
        <p:grpSpPr>
          <a:xfrm>
            <a:off x="12912308" y="19621569"/>
            <a:ext cx="2840434" cy="700789"/>
            <a:chOff x="12785873" y="19858635"/>
            <a:chExt cx="2840434" cy="700789"/>
          </a:xfrm>
        </p:grpSpPr>
        <p:pic>
          <p:nvPicPr>
            <p:cNvPr id="1027" name="그림 1026">
              <a:extLst>
                <a:ext uri="{FF2B5EF4-FFF2-40B4-BE49-F238E27FC236}">
                  <a16:creationId xmlns:a16="http://schemas.microsoft.com/office/drawing/2014/main" id="{BB7A189D-333F-04D8-CC71-520FF3C04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2785873" y="19858635"/>
              <a:ext cx="789857" cy="680569"/>
            </a:xfrm>
            <a:prstGeom prst="rect">
              <a:avLst/>
            </a:prstGeom>
          </p:spPr>
        </p:pic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14B82D89-9E1F-5D39-2EBB-8A68F25C4A63}"/>
                </a:ext>
              </a:extLst>
            </p:cNvPr>
            <p:cNvSpPr txBox="1"/>
            <p:nvPr/>
          </p:nvSpPr>
          <p:spPr>
            <a:xfrm>
              <a:off x="13555389" y="19948112"/>
              <a:ext cx="2070918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500">
                  <a:solidFill>
                    <a:schemeClr val="accent6">
                      <a:lumMod val="75000"/>
                    </a:schemeClr>
                  </a:solidFill>
                </a:rPr>
                <a:t>이명 </a:t>
              </a:r>
              <a:r>
                <a:rPr lang="en-US" altLang="ko-KR" sz="3500">
                  <a:solidFill>
                    <a:schemeClr val="accent6">
                      <a:lumMod val="75000"/>
                    </a:schemeClr>
                  </a:solidFill>
                </a:rPr>
                <a:t>= </a:t>
              </a:r>
              <a:r>
                <a:rPr lang="ko-KR" altLang="en-US" sz="3500">
                  <a:solidFill>
                    <a:schemeClr val="accent6">
                      <a:lumMod val="75000"/>
                    </a:schemeClr>
                  </a:solidFill>
                </a:rPr>
                <a:t>보라</a:t>
              </a:r>
              <a:endParaRPr lang="en-US" altLang="ko-KR" sz="35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1053" name="그룹 1052">
            <a:extLst>
              <a:ext uri="{FF2B5EF4-FFF2-40B4-BE49-F238E27FC236}">
                <a16:creationId xmlns:a16="http://schemas.microsoft.com/office/drawing/2014/main" id="{D5D480D2-AB67-39C7-666F-2CEBA4E97F06}"/>
              </a:ext>
            </a:extLst>
          </p:cNvPr>
          <p:cNvGrpSpPr/>
          <p:nvPr/>
        </p:nvGrpSpPr>
        <p:grpSpPr>
          <a:xfrm>
            <a:off x="16504000" y="19711319"/>
            <a:ext cx="2904585" cy="616481"/>
            <a:chOff x="16353630" y="19921360"/>
            <a:chExt cx="2904585" cy="616481"/>
          </a:xfrm>
        </p:grpSpPr>
        <p:pic>
          <p:nvPicPr>
            <p:cNvPr id="1030" name="그림 1029">
              <a:extLst>
                <a:ext uri="{FF2B5EF4-FFF2-40B4-BE49-F238E27FC236}">
                  <a16:creationId xmlns:a16="http://schemas.microsoft.com/office/drawing/2014/main" id="{D59CC9F0-9C12-4F18-52A6-23DD26AAD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53630" y="19921360"/>
              <a:ext cx="760704" cy="525637"/>
            </a:xfrm>
            <a:prstGeom prst="rect">
              <a:avLst/>
            </a:prstGeom>
          </p:spPr>
        </p:pic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C403B9EE-7DA0-0066-BE81-F69CA87B0BF4}"/>
                </a:ext>
              </a:extLst>
            </p:cNvPr>
            <p:cNvSpPr txBox="1"/>
            <p:nvPr/>
          </p:nvSpPr>
          <p:spPr>
            <a:xfrm>
              <a:off x="17187297" y="19926529"/>
              <a:ext cx="2070918" cy="611312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algn="ctr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500">
                  <a:solidFill>
                    <a:schemeClr val="accent4"/>
                  </a:solidFill>
                </a:rPr>
                <a:t>패드 </a:t>
              </a:r>
              <a:r>
                <a:rPr lang="en-US" altLang="ko-KR" sz="3500">
                  <a:solidFill>
                    <a:schemeClr val="accent4"/>
                  </a:solidFill>
                </a:rPr>
                <a:t>= </a:t>
              </a:r>
              <a:r>
                <a:rPr lang="ko-KR" altLang="en-US" sz="3500">
                  <a:solidFill>
                    <a:schemeClr val="accent4"/>
                  </a:solidFill>
                </a:rPr>
                <a:t>주황</a:t>
              </a:r>
              <a:endParaRPr lang="en-US" altLang="ko-KR" sz="350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1032" name="TextBox 1031">
            <a:extLst>
              <a:ext uri="{FF2B5EF4-FFF2-40B4-BE49-F238E27FC236}">
                <a16:creationId xmlns:a16="http://schemas.microsoft.com/office/drawing/2014/main" id="{A95B4BC9-06A7-074E-6A08-A7A1932D7A15}"/>
              </a:ext>
            </a:extLst>
          </p:cNvPr>
          <p:cNvSpPr txBox="1"/>
          <p:nvPr/>
        </p:nvSpPr>
        <p:spPr>
          <a:xfrm>
            <a:off x="3998616" y="10820143"/>
            <a:ext cx="1464616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en-US" altLang="ko-KR" sz="3000">
                <a:solidFill>
                  <a:schemeClr val="tx1"/>
                </a:solidFill>
              </a:rPr>
              <a:t>LED</a:t>
            </a:r>
          </a:p>
        </p:txBody>
      </p:sp>
      <p:sp>
        <p:nvSpPr>
          <p:cNvPr id="1033" name="타원 1032">
            <a:extLst>
              <a:ext uri="{FF2B5EF4-FFF2-40B4-BE49-F238E27FC236}">
                <a16:creationId xmlns:a16="http://schemas.microsoft.com/office/drawing/2014/main" id="{74C56B4D-7133-3CF1-6161-E72B1BB7CAA8}"/>
              </a:ext>
            </a:extLst>
          </p:cNvPr>
          <p:cNvSpPr/>
          <p:nvPr/>
        </p:nvSpPr>
        <p:spPr>
          <a:xfrm>
            <a:off x="4284769" y="9958772"/>
            <a:ext cx="898999" cy="898999"/>
          </a:xfrm>
          <a:prstGeom prst="ellipse">
            <a:avLst/>
          </a:prstGeom>
          <a:noFill/>
          <a:ln w="3810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62CC4B90-9A5D-94C6-B49D-402E280B4BBA}"/>
              </a:ext>
            </a:extLst>
          </p:cNvPr>
          <p:cNvSpPr txBox="1"/>
          <p:nvPr/>
        </p:nvSpPr>
        <p:spPr>
          <a:xfrm>
            <a:off x="5600819" y="10811600"/>
            <a:ext cx="1137742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ko-KR" altLang="en-US" sz="3000">
                <a:solidFill>
                  <a:schemeClr val="tx1"/>
                </a:solidFill>
              </a:rPr>
              <a:t>진동</a:t>
            </a:r>
            <a:endParaRPr lang="en-US" altLang="ko-KR" sz="3500">
              <a:solidFill>
                <a:schemeClr val="tx1"/>
              </a:solidFill>
            </a:endParaRPr>
          </a:p>
        </p:txBody>
      </p:sp>
      <p:sp>
        <p:nvSpPr>
          <p:cNvPr id="1035" name="타원 1034">
            <a:extLst>
              <a:ext uri="{FF2B5EF4-FFF2-40B4-BE49-F238E27FC236}">
                <a16:creationId xmlns:a16="http://schemas.microsoft.com/office/drawing/2014/main" id="{E849B3C9-6F2C-D239-0930-358EFF6C85A1}"/>
              </a:ext>
            </a:extLst>
          </p:cNvPr>
          <p:cNvSpPr/>
          <p:nvPr/>
        </p:nvSpPr>
        <p:spPr>
          <a:xfrm>
            <a:off x="5696607" y="9958137"/>
            <a:ext cx="898999" cy="898999"/>
          </a:xfrm>
          <a:prstGeom prst="ellipse">
            <a:avLst/>
          </a:prstGeom>
          <a:noFill/>
          <a:ln w="3810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5484B48-3965-B0B6-4028-FD98D3710662}"/>
              </a:ext>
            </a:extLst>
          </p:cNvPr>
          <p:cNvSpPr txBox="1"/>
          <p:nvPr/>
        </p:nvSpPr>
        <p:spPr>
          <a:xfrm>
            <a:off x="6849220" y="10810965"/>
            <a:ext cx="1464616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ko-KR" altLang="en-US" sz="3000">
                <a:solidFill>
                  <a:schemeClr val="tx1"/>
                </a:solidFill>
              </a:rPr>
              <a:t>머리 회전</a:t>
            </a:r>
            <a:endParaRPr lang="en-US" altLang="ko-KR" sz="3500">
              <a:solidFill>
                <a:schemeClr val="tx1"/>
              </a:solidFill>
            </a:endParaRPr>
          </a:p>
        </p:txBody>
      </p:sp>
      <p:sp>
        <p:nvSpPr>
          <p:cNvPr id="1037" name="타원 1036">
            <a:extLst>
              <a:ext uri="{FF2B5EF4-FFF2-40B4-BE49-F238E27FC236}">
                <a16:creationId xmlns:a16="http://schemas.microsoft.com/office/drawing/2014/main" id="{348E25C3-792B-9108-1210-432F581C0E74}"/>
              </a:ext>
            </a:extLst>
          </p:cNvPr>
          <p:cNvSpPr/>
          <p:nvPr/>
        </p:nvSpPr>
        <p:spPr>
          <a:xfrm>
            <a:off x="7108445" y="9957502"/>
            <a:ext cx="898999" cy="898999"/>
          </a:xfrm>
          <a:prstGeom prst="ellipse">
            <a:avLst/>
          </a:prstGeom>
          <a:noFill/>
          <a:ln w="3810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690CD284-8875-FEF3-6301-19439711197B}"/>
              </a:ext>
            </a:extLst>
          </p:cNvPr>
          <p:cNvSpPr txBox="1"/>
          <p:nvPr/>
        </p:nvSpPr>
        <p:spPr>
          <a:xfrm>
            <a:off x="8261058" y="10810330"/>
            <a:ext cx="1464616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ko-KR" altLang="en-US" sz="3000">
                <a:solidFill>
                  <a:schemeClr val="tx1"/>
                </a:solidFill>
              </a:rPr>
              <a:t>패드</a:t>
            </a:r>
            <a:endParaRPr lang="en-US" altLang="ko-KR" sz="3500">
              <a:solidFill>
                <a:schemeClr val="tx1"/>
              </a:solidFill>
            </a:endParaRPr>
          </a:p>
        </p:txBody>
      </p:sp>
      <p:sp>
        <p:nvSpPr>
          <p:cNvPr id="1039" name="타원 1038">
            <a:extLst>
              <a:ext uri="{FF2B5EF4-FFF2-40B4-BE49-F238E27FC236}">
                <a16:creationId xmlns:a16="http://schemas.microsoft.com/office/drawing/2014/main" id="{85807A51-FA49-8A9A-D261-C77FC90454D9}"/>
              </a:ext>
            </a:extLst>
          </p:cNvPr>
          <p:cNvSpPr/>
          <p:nvPr/>
        </p:nvSpPr>
        <p:spPr>
          <a:xfrm>
            <a:off x="8520283" y="9956867"/>
            <a:ext cx="898999" cy="898999"/>
          </a:xfrm>
          <a:prstGeom prst="ellipse">
            <a:avLst/>
          </a:prstGeom>
          <a:noFill/>
          <a:ln w="3810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2" name="사각형: 둥근 모서리 1051">
            <a:extLst>
              <a:ext uri="{FF2B5EF4-FFF2-40B4-BE49-F238E27FC236}">
                <a16:creationId xmlns:a16="http://schemas.microsoft.com/office/drawing/2014/main" id="{DBA847AE-AE6E-A4EC-317C-C5FA73F5E4B3}"/>
              </a:ext>
            </a:extLst>
          </p:cNvPr>
          <p:cNvSpPr/>
          <p:nvPr/>
        </p:nvSpPr>
        <p:spPr>
          <a:xfrm>
            <a:off x="2016827" y="21044289"/>
            <a:ext cx="17560638" cy="1132019"/>
          </a:xfrm>
          <a:prstGeom prst="roundRect">
            <a:avLst/>
          </a:prstGeom>
          <a:noFill/>
          <a:ln w="57150">
            <a:solidFill>
              <a:srgbClr val="E4EA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9" name="사각형: 둥근 모서리 1058">
            <a:extLst>
              <a:ext uri="{FF2B5EF4-FFF2-40B4-BE49-F238E27FC236}">
                <a16:creationId xmlns:a16="http://schemas.microsoft.com/office/drawing/2014/main" id="{4BEBCE74-DA91-116B-2455-523830808520}"/>
              </a:ext>
            </a:extLst>
          </p:cNvPr>
          <p:cNvSpPr/>
          <p:nvPr/>
        </p:nvSpPr>
        <p:spPr>
          <a:xfrm>
            <a:off x="9518113" y="20520793"/>
            <a:ext cx="2778212" cy="597622"/>
          </a:xfrm>
          <a:prstGeom prst="roundRect">
            <a:avLst>
              <a:gd name="adj" fmla="val 22822"/>
            </a:avLst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752E8F85-58A3-4302-97D8-96CC0E451E87}"/>
              </a:ext>
            </a:extLst>
          </p:cNvPr>
          <p:cNvSpPr txBox="1"/>
          <p:nvPr/>
        </p:nvSpPr>
        <p:spPr>
          <a:xfrm>
            <a:off x="9533498" y="20545527"/>
            <a:ext cx="2778212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ko-KR" altLang="en-US" sz="3000">
                <a:solidFill>
                  <a:schemeClr val="bg1"/>
                </a:solidFill>
              </a:rPr>
              <a:t>기술 동작 흐름</a:t>
            </a:r>
            <a:endParaRPr lang="en-US" altLang="ko-KR" sz="3500">
              <a:solidFill>
                <a:schemeClr val="bg1"/>
              </a:solidFill>
            </a:endParaRPr>
          </a:p>
        </p:txBody>
      </p:sp>
      <p:grpSp>
        <p:nvGrpSpPr>
          <p:cNvPr id="1124" name="그룹 1123">
            <a:extLst>
              <a:ext uri="{FF2B5EF4-FFF2-40B4-BE49-F238E27FC236}">
                <a16:creationId xmlns:a16="http://schemas.microsoft.com/office/drawing/2014/main" id="{DD73C269-66F7-87FC-5656-01D06A034CAD}"/>
              </a:ext>
            </a:extLst>
          </p:cNvPr>
          <p:cNvGrpSpPr/>
          <p:nvPr/>
        </p:nvGrpSpPr>
        <p:grpSpPr>
          <a:xfrm>
            <a:off x="2249748" y="21120719"/>
            <a:ext cx="2761050" cy="996033"/>
            <a:chOff x="2266538" y="21120719"/>
            <a:chExt cx="2761050" cy="996033"/>
          </a:xfrm>
        </p:grpSpPr>
        <p:sp>
          <p:nvSpPr>
            <p:cNvPr id="1101" name="TextBox 1100">
              <a:extLst>
                <a:ext uri="{FF2B5EF4-FFF2-40B4-BE49-F238E27FC236}">
                  <a16:creationId xmlns:a16="http://schemas.microsoft.com/office/drawing/2014/main" id="{7EF6D4EF-1597-A388-D921-99CDC3B8A959}"/>
                </a:ext>
              </a:extLst>
            </p:cNvPr>
            <p:cNvSpPr txBox="1"/>
            <p:nvPr/>
          </p:nvSpPr>
          <p:spPr>
            <a:xfrm>
              <a:off x="3043730" y="21120719"/>
              <a:ext cx="1983858" cy="996033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머리 회전 </a:t>
              </a:r>
              <a:b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입력</a:t>
              </a:r>
              <a:endParaRPr lang="en-US" altLang="ko-KR" sz="3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9AD154D6-480F-D954-389F-9CE63807F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266538" y="21165414"/>
              <a:ext cx="755324" cy="878791"/>
            </a:xfrm>
            <a:prstGeom prst="rect">
              <a:avLst/>
            </a:prstGeom>
          </p:spPr>
        </p:pic>
      </p:grpSp>
      <p:cxnSp>
        <p:nvCxnSpPr>
          <p:cNvPr id="1107" name="직선 화살표 연결선 1106">
            <a:extLst>
              <a:ext uri="{FF2B5EF4-FFF2-40B4-BE49-F238E27FC236}">
                <a16:creationId xmlns:a16="http://schemas.microsoft.com/office/drawing/2014/main" id="{97A038AB-D6F3-B620-82BE-53195317F28F}"/>
              </a:ext>
            </a:extLst>
          </p:cNvPr>
          <p:cNvCxnSpPr>
            <a:cxnSpLocks/>
          </p:cNvCxnSpPr>
          <p:nvPr/>
        </p:nvCxnSpPr>
        <p:spPr>
          <a:xfrm>
            <a:off x="4574458" y="21622510"/>
            <a:ext cx="609310" cy="0"/>
          </a:xfrm>
          <a:prstGeom prst="straightConnector1">
            <a:avLst/>
          </a:prstGeom>
          <a:ln w="762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5" name="그룹 1124">
            <a:extLst>
              <a:ext uri="{FF2B5EF4-FFF2-40B4-BE49-F238E27FC236}">
                <a16:creationId xmlns:a16="http://schemas.microsoft.com/office/drawing/2014/main" id="{B67B16BC-CDCA-0188-DE58-DAA86AB78918}"/>
              </a:ext>
            </a:extLst>
          </p:cNvPr>
          <p:cNvGrpSpPr/>
          <p:nvPr/>
        </p:nvGrpSpPr>
        <p:grpSpPr>
          <a:xfrm>
            <a:off x="5523224" y="21129079"/>
            <a:ext cx="3170441" cy="996033"/>
            <a:chOff x="5736705" y="21129079"/>
            <a:chExt cx="3170441" cy="996033"/>
          </a:xfrm>
        </p:grpSpPr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55CE03C8-316F-B2E0-10CE-AC0C464F4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736705" y="21195254"/>
              <a:ext cx="905139" cy="863682"/>
            </a:xfrm>
            <a:prstGeom prst="rect">
              <a:avLst/>
            </a:prstGeom>
          </p:spPr>
        </p:pic>
        <p:sp>
          <p:nvSpPr>
            <p:cNvPr id="1111" name="TextBox 1110">
              <a:extLst>
                <a:ext uri="{FF2B5EF4-FFF2-40B4-BE49-F238E27FC236}">
                  <a16:creationId xmlns:a16="http://schemas.microsoft.com/office/drawing/2014/main" id="{68DEA2B5-E587-B441-22AF-1169FE9C88B9}"/>
                </a:ext>
              </a:extLst>
            </p:cNvPr>
            <p:cNvSpPr txBox="1"/>
            <p:nvPr/>
          </p:nvSpPr>
          <p:spPr>
            <a:xfrm>
              <a:off x="6752488" y="21129079"/>
              <a:ext cx="2154658" cy="996033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ArUco </a:t>
              </a: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기반</a:t>
              </a:r>
              <a:b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패드 위치 추적</a:t>
              </a:r>
              <a:endParaRPr lang="en-US" altLang="ko-KR" sz="30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00CCC36-A4D9-2F5F-34B5-DCE4E3E6AD8F}"/>
              </a:ext>
            </a:extLst>
          </p:cNvPr>
          <p:cNvSpPr txBox="1"/>
          <p:nvPr/>
        </p:nvSpPr>
        <p:spPr>
          <a:xfrm>
            <a:off x="8859955" y="25996911"/>
            <a:ext cx="2107786" cy="611312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/>
          <a:p>
            <a:pPr lvl="0" defTabSz="2159996" latinLnBrk="1">
              <a:spcAft>
                <a:spcPts val="1200"/>
              </a:spcAft>
              <a:buClr>
                <a:srgbClr val="1DAF88"/>
              </a:buClr>
              <a:defRPr/>
            </a:pPr>
            <a:r>
              <a:rPr lang="ko-KR" altLang="en-US" sz="3500">
                <a:solidFill>
                  <a:schemeClr val="tx1">
                    <a:lumMod val="95000"/>
                    <a:lumOff val="5000"/>
                  </a:schemeClr>
                </a:solidFill>
              </a:rPr>
              <a:t>게임 패드</a:t>
            </a:r>
            <a:endParaRPr lang="en-US" altLang="ko-KR"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113" name="직선 화살표 연결선 1112">
            <a:extLst>
              <a:ext uri="{FF2B5EF4-FFF2-40B4-BE49-F238E27FC236}">
                <a16:creationId xmlns:a16="http://schemas.microsoft.com/office/drawing/2014/main" id="{DCF7DDC0-5049-AE23-CC5D-D004CEF58776}"/>
              </a:ext>
            </a:extLst>
          </p:cNvPr>
          <p:cNvCxnSpPr>
            <a:cxnSpLocks/>
          </p:cNvCxnSpPr>
          <p:nvPr/>
        </p:nvCxnSpPr>
        <p:spPr>
          <a:xfrm>
            <a:off x="8809972" y="21637319"/>
            <a:ext cx="609310" cy="0"/>
          </a:xfrm>
          <a:prstGeom prst="straightConnector1">
            <a:avLst/>
          </a:prstGeom>
          <a:ln w="762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6" name="그룹 1125">
            <a:extLst>
              <a:ext uri="{FF2B5EF4-FFF2-40B4-BE49-F238E27FC236}">
                <a16:creationId xmlns:a16="http://schemas.microsoft.com/office/drawing/2014/main" id="{041809C1-94B6-5803-C02F-EAE8A754DDD2}"/>
              </a:ext>
            </a:extLst>
          </p:cNvPr>
          <p:cNvGrpSpPr/>
          <p:nvPr/>
        </p:nvGrpSpPr>
        <p:grpSpPr>
          <a:xfrm>
            <a:off x="9671909" y="21129079"/>
            <a:ext cx="3053719" cy="996033"/>
            <a:chOff x="9763650" y="21129079"/>
            <a:chExt cx="3053719" cy="996033"/>
          </a:xfrm>
        </p:grpSpPr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70FD464D-94B2-B858-0664-7B2F4D3BD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763650" y="21184930"/>
              <a:ext cx="818038" cy="880663"/>
            </a:xfrm>
            <a:prstGeom prst="rect">
              <a:avLst/>
            </a:prstGeom>
          </p:spPr>
        </p:pic>
        <p:sp>
          <p:nvSpPr>
            <p:cNvPr id="1115" name="TextBox 1114">
              <a:extLst>
                <a:ext uri="{FF2B5EF4-FFF2-40B4-BE49-F238E27FC236}">
                  <a16:creationId xmlns:a16="http://schemas.microsoft.com/office/drawing/2014/main" id="{C079FE7E-FAFC-942E-04EF-E25E753ABB20}"/>
                </a:ext>
              </a:extLst>
            </p:cNvPr>
            <p:cNvSpPr txBox="1"/>
            <p:nvPr/>
          </p:nvSpPr>
          <p:spPr>
            <a:xfrm>
              <a:off x="10662711" y="21129079"/>
              <a:ext cx="2154658" cy="996033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패드 </a:t>
              </a:r>
              <a: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IMU</a:t>
              </a:r>
              <a:b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회전 보정</a:t>
              </a:r>
              <a:endParaRPr lang="en-US" altLang="ko-KR" sz="30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116" name="직선 화살표 연결선 1115">
            <a:extLst>
              <a:ext uri="{FF2B5EF4-FFF2-40B4-BE49-F238E27FC236}">
                <a16:creationId xmlns:a16="http://schemas.microsoft.com/office/drawing/2014/main" id="{9CDE4A5E-62C8-54F3-5B0D-F8B0D25DF155}"/>
              </a:ext>
            </a:extLst>
          </p:cNvPr>
          <p:cNvCxnSpPr>
            <a:cxnSpLocks/>
          </p:cNvCxnSpPr>
          <p:nvPr/>
        </p:nvCxnSpPr>
        <p:spPr>
          <a:xfrm>
            <a:off x="12141828" y="21637319"/>
            <a:ext cx="609310" cy="0"/>
          </a:xfrm>
          <a:prstGeom prst="straightConnector1">
            <a:avLst/>
          </a:prstGeom>
          <a:ln w="762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7" name="그룹 1126">
            <a:extLst>
              <a:ext uri="{FF2B5EF4-FFF2-40B4-BE49-F238E27FC236}">
                <a16:creationId xmlns:a16="http://schemas.microsoft.com/office/drawing/2014/main" id="{8D0D93E7-1FD7-4F76-DEFF-CA36C04745D9}"/>
              </a:ext>
            </a:extLst>
          </p:cNvPr>
          <p:cNvGrpSpPr/>
          <p:nvPr/>
        </p:nvGrpSpPr>
        <p:grpSpPr>
          <a:xfrm>
            <a:off x="12910790" y="21129079"/>
            <a:ext cx="3752309" cy="996033"/>
            <a:chOff x="13195432" y="21129079"/>
            <a:chExt cx="3752309" cy="996033"/>
          </a:xfrm>
        </p:grpSpPr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DACBDCF7-E1CA-3139-40A8-B5BFA4BA8B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/>
            <a:srcRect b="8288"/>
            <a:stretch/>
          </p:blipFill>
          <p:spPr>
            <a:xfrm>
              <a:off x="13195432" y="21214914"/>
              <a:ext cx="1521851" cy="814698"/>
            </a:xfrm>
            <a:prstGeom prst="rect">
              <a:avLst/>
            </a:prstGeom>
          </p:spPr>
        </p:pic>
        <p:sp>
          <p:nvSpPr>
            <p:cNvPr id="1119" name="TextBox 1118">
              <a:extLst>
                <a:ext uri="{FF2B5EF4-FFF2-40B4-BE49-F238E27FC236}">
                  <a16:creationId xmlns:a16="http://schemas.microsoft.com/office/drawing/2014/main" id="{53B16857-78B0-6FAE-1F7C-D1D5F5D78DC0}"/>
                </a:ext>
              </a:extLst>
            </p:cNvPr>
            <p:cNvSpPr txBox="1"/>
            <p:nvPr/>
          </p:nvSpPr>
          <p:spPr>
            <a:xfrm>
              <a:off x="14793083" y="21129079"/>
              <a:ext cx="2154658" cy="996033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공간 음향 </a:t>
              </a:r>
              <a: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b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LED </a:t>
              </a: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매핑</a:t>
              </a:r>
              <a:endParaRPr lang="en-US" altLang="ko-KR" sz="30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120" name="직선 화살표 연결선 1119">
            <a:extLst>
              <a:ext uri="{FF2B5EF4-FFF2-40B4-BE49-F238E27FC236}">
                <a16:creationId xmlns:a16="http://schemas.microsoft.com/office/drawing/2014/main" id="{C00D0821-D3B6-1C79-43D4-82D9475FEEAE}"/>
              </a:ext>
            </a:extLst>
          </p:cNvPr>
          <p:cNvCxnSpPr>
            <a:cxnSpLocks/>
          </p:cNvCxnSpPr>
          <p:nvPr/>
        </p:nvCxnSpPr>
        <p:spPr>
          <a:xfrm>
            <a:off x="16209939" y="21637319"/>
            <a:ext cx="609310" cy="0"/>
          </a:xfrm>
          <a:prstGeom prst="straightConnector1">
            <a:avLst/>
          </a:prstGeom>
          <a:ln w="762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8" name="그룹 1127">
            <a:extLst>
              <a:ext uri="{FF2B5EF4-FFF2-40B4-BE49-F238E27FC236}">
                <a16:creationId xmlns:a16="http://schemas.microsoft.com/office/drawing/2014/main" id="{7D22D50B-7DEE-E247-E327-77A4D417A58B}"/>
              </a:ext>
            </a:extLst>
          </p:cNvPr>
          <p:cNvGrpSpPr/>
          <p:nvPr/>
        </p:nvGrpSpPr>
        <p:grpSpPr>
          <a:xfrm>
            <a:off x="16955537" y="21165414"/>
            <a:ext cx="2566904" cy="996033"/>
            <a:chOff x="16955537" y="21165414"/>
            <a:chExt cx="2566904" cy="996033"/>
          </a:xfrm>
        </p:grpSpPr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D586FF62-B4B7-0B15-6028-2038F61E7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6955537" y="21283678"/>
              <a:ext cx="849608" cy="727068"/>
            </a:xfrm>
            <a:prstGeom prst="rect">
              <a:avLst/>
            </a:prstGeom>
          </p:spPr>
        </p:pic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C2F6AAC2-3686-AC4F-B5B1-5E05BA9E4FE0}"/>
                </a:ext>
              </a:extLst>
            </p:cNvPr>
            <p:cNvSpPr txBox="1"/>
            <p:nvPr/>
          </p:nvSpPr>
          <p:spPr>
            <a:xfrm>
              <a:off x="17774927" y="21165414"/>
              <a:ext cx="1747514" cy="996033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spAutoFit/>
            </a:bodyPr>
            <a:lstStyle/>
            <a:p>
              <a:pPr lvl="0" defTabSz="2159996" latinLnBrk="1">
                <a:spcAft>
                  <a:spcPts val="1200"/>
                </a:spcAft>
                <a:buClr>
                  <a:srgbClr val="1DAF88"/>
                </a:buClr>
                <a:defRPr/>
              </a:pP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진동 피드백</a:t>
              </a:r>
              <a:br>
                <a:rPr lang="en-US" altLang="ko-KR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ko-KR" altLang="en-US" sz="30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연동</a:t>
              </a:r>
              <a:endParaRPr lang="en-US" altLang="ko-KR" sz="30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131" name="사각형: 둥근 모서리 1130">
            <a:extLst>
              <a:ext uri="{FF2B5EF4-FFF2-40B4-BE49-F238E27FC236}">
                <a16:creationId xmlns:a16="http://schemas.microsoft.com/office/drawing/2014/main" id="{34826726-A0DA-B3B7-EFA7-41EBC3A19C15}"/>
              </a:ext>
            </a:extLst>
          </p:cNvPr>
          <p:cNvSpPr/>
          <p:nvPr/>
        </p:nvSpPr>
        <p:spPr>
          <a:xfrm>
            <a:off x="9518113" y="18986398"/>
            <a:ext cx="2778212" cy="597622"/>
          </a:xfrm>
          <a:prstGeom prst="roundRect">
            <a:avLst>
              <a:gd name="adj" fmla="val 22822"/>
            </a:avLst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AF219A06-A30D-2E9F-19A0-1729EB374BA9}"/>
              </a:ext>
            </a:extLst>
          </p:cNvPr>
          <p:cNvSpPr txBox="1"/>
          <p:nvPr/>
        </p:nvSpPr>
        <p:spPr>
          <a:xfrm>
            <a:off x="9533498" y="19011825"/>
            <a:ext cx="2778212" cy="534368"/>
          </a:xfrm>
          <a:prstGeom prst="rect">
            <a:avLst/>
          </a:prstGeom>
          <a:noFill/>
        </p:spPr>
        <p:txBody>
          <a:bodyPr wrap="square" lIns="72000" tIns="36000" rIns="72000" bIns="36000" rtlCol="0" anchor="t">
            <a:spAutoFit/>
          </a:bodyPr>
          <a:lstStyle>
            <a:defPPr>
              <a:defRPr lang="en-US"/>
            </a:defPPr>
            <a:lvl1pPr marL="720000" marR="0" lvl="0" indent="-720000" defTabSz="2159996" fontAlgn="auto" latinLnBrk="1">
              <a:spcAft>
                <a:spcPts val="1200"/>
              </a:spcAft>
              <a:buClr>
                <a:schemeClr val="accent4"/>
              </a:buClr>
              <a:buSzTx/>
              <a:buFont typeface="프리젠테이션 4 Regular" pitchFamily="2" charset="-127"/>
              <a:buChar char=""/>
              <a:tabLst/>
              <a:defRPr sz="4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indent="0" algn="ctr">
              <a:buClr>
                <a:srgbClr val="1DAF88"/>
              </a:buClr>
              <a:buNone/>
            </a:pPr>
            <a:r>
              <a:rPr lang="en-US" altLang="ko-KR" sz="3000">
                <a:solidFill>
                  <a:schemeClr val="bg1"/>
                </a:solidFill>
              </a:rPr>
              <a:t>LED </a:t>
            </a:r>
            <a:r>
              <a:rPr lang="ko-KR" altLang="en-US" sz="3000">
                <a:solidFill>
                  <a:schemeClr val="bg1"/>
                </a:solidFill>
              </a:rPr>
              <a:t>빛 색상</a:t>
            </a:r>
            <a:endParaRPr lang="en-US" altLang="ko-KR" sz="3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48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2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449A4"/>
      </a:accent1>
      <a:accent2>
        <a:srgbClr val="2C9CD7"/>
      </a:accent2>
      <a:accent3>
        <a:srgbClr val="1EAE88"/>
      </a:accent3>
      <a:accent4>
        <a:srgbClr val="F78D0D"/>
      </a:accent4>
      <a:accent5>
        <a:srgbClr val="EC5EA8"/>
      </a:accent5>
      <a:accent6>
        <a:srgbClr val="7148F6"/>
      </a:accent6>
      <a:hlink>
        <a:srgbClr val="70AD47"/>
      </a:hlink>
      <a:folHlink>
        <a:srgbClr val="954F72"/>
      </a:folHlink>
    </a:clrScheme>
    <a:fontScheme name="사용자 지정 3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571500" indent="-571500" algn="l">
          <a:buFont typeface="Arial" panose="020B0604020202020204" pitchFamily="34" charset="0"/>
          <a:buChar char="•"/>
          <a:defRPr sz="4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7048</TotalTime>
  <Words>273</Words>
  <Application>Microsoft Office PowerPoint</Application>
  <PresentationFormat>사용자 지정</PresentationFormat>
  <Paragraphs>84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프리젠테이션 7 Bold</vt:lpstr>
      <vt:lpstr>페이퍼로지 8 ExtraBold</vt:lpstr>
      <vt:lpstr>프리젠테이션 4 Regular</vt:lpstr>
      <vt:lpstr>페이퍼로지 6 SemiBold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Owner</dc:creator>
  <cp:lastModifiedBy>현희 남</cp:lastModifiedBy>
  <cp:revision>314</cp:revision>
  <cp:lastPrinted>2023-11-21T09:03:08Z</cp:lastPrinted>
  <dcterms:created xsi:type="dcterms:W3CDTF">2023-05-09T06:06:35Z</dcterms:created>
  <dcterms:modified xsi:type="dcterms:W3CDTF">2026-05-31T08:31:56Z</dcterms:modified>
</cp:coreProperties>
</file>