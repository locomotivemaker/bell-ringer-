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291" r:id="rId2"/>
    <p:sldId id="297" r:id="rId3"/>
  </p:sldIdLst>
  <p:sldSz cx="21599525" cy="32399288"/>
  <p:notesSz cx="6807200" cy="9939338"/>
  <p:embeddedFontLst>
    <p:embeddedFont>
      <p:font typeface="페이퍼로지 6 SemiBold" charset="-127"/>
      <p:regular r:id="rId6"/>
      <p:bold r:id="rId7"/>
    </p:embeddedFont>
    <p:embeddedFont>
      <p:font typeface="페이퍼로지 8 ExtraBold" charset="-127"/>
      <p:bold r:id="rId8"/>
    </p:embeddedFont>
    <p:embeddedFont>
      <p:font typeface="프리젠테이션 4 Regular" charset="-127"/>
      <p:regular r:id="rId9"/>
    </p:embeddedFont>
    <p:embeddedFont>
      <p:font typeface="프리젠테이션 7 Bold" charset="-127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5" userDrawn="1">
          <p15:clr>
            <a:srgbClr val="A4A3A4"/>
          </p15:clr>
        </p15:guide>
        <p15:guide id="2" pos="68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AF88"/>
    <a:srgbClr val="3D96CB"/>
    <a:srgbClr val="9967E3"/>
    <a:srgbClr val="6247E3"/>
    <a:srgbClr val="93ACFE"/>
    <a:srgbClr val="EC5EA8"/>
    <a:srgbClr val="2449A4"/>
    <a:srgbClr val="B3DEF7"/>
    <a:srgbClr val="BEE65F"/>
    <a:srgbClr val="7148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96076" autoAdjust="0"/>
  </p:normalViewPr>
  <p:slideViewPr>
    <p:cSldViewPr>
      <p:cViewPr>
        <p:scale>
          <a:sx n="33" d="100"/>
          <a:sy n="33" d="100"/>
        </p:scale>
        <p:origin x="2472" y="-264"/>
      </p:cViewPr>
      <p:guideLst>
        <p:guide orient="horz" pos="10205"/>
        <p:guide pos="68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314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33C422A-34B3-4C58-BD0B-EAD7D607A2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64789E-F14C-420B-B9FA-B45C75B758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112EB-970A-42F9-961D-9A843A29AEE0}" type="datetimeFigureOut">
              <a:rPr lang="ko-KR" altLang="en-US" smtClean="0">
                <a:latin typeface="프리젠테이션 4 Regular" pitchFamily="2" charset="-127"/>
                <a:ea typeface="프리젠테이션 4 Regular" pitchFamily="2" charset="-127"/>
              </a:rPr>
              <a:t>2026-05-29</a:t>
            </a:fld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3D53A4-4FFF-4575-8E4C-D1C7ECFFE3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8A5394-FFB3-41F6-9475-77B5C385B4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616E0-2C1B-49D4-A1B4-DB6A6111033B}" type="slidenum">
              <a:rPr lang="ko-KR" altLang="en-US" smtClean="0">
                <a:latin typeface="프리젠테이션 4 Regular" pitchFamily="2" charset="-127"/>
                <a:ea typeface="프리젠테이션 4 Regular" pitchFamily="2" charset="-127"/>
              </a:rPr>
              <a:t>‹#›</a:t>
            </a:fld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4212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7472FB17-58EF-4A58-BD0A-24A9918C23B5}" type="datetimeFigureOut">
              <a:rPr lang="ko-KR" altLang="en-US" smtClean="0"/>
              <a:pPr/>
              <a:t>2026-05-29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1243013"/>
            <a:ext cx="223520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2369D8F4-2A5A-4260-85C3-B027326E9B1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4786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1pPr>
    <a:lvl2pPr marL="1321948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2pPr>
    <a:lvl3pPr marL="2643896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3pPr>
    <a:lvl4pPr marL="3965844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4pPr>
    <a:lvl5pPr marL="5287792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5pPr>
    <a:lvl6pPr marL="6609740" algn="l" defTabSz="264389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6pPr>
    <a:lvl7pPr marL="7931688" algn="l" defTabSz="264389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7pPr>
    <a:lvl8pPr marL="9253637" algn="l" defTabSz="264389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8pPr>
    <a:lvl9pPr marL="10575585" algn="l" defTabSz="264389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1"/>
              </a:gs>
              <a:gs pos="100000">
                <a:schemeClr val="accent6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19000">
                    <a:schemeClr val="accent1"/>
                  </a:gs>
                  <a:gs pos="77000">
                    <a:schemeClr val="accent6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14003D7-5319-B9C8-B0F5-D66680C73E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619374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2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1"/>
              </a:gs>
              <a:gs pos="100000">
                <a:schemeClr val="accent6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alphaModFix amt="30000"/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19000">
                    <a:schemeClr val="accent1"/>
                  </a:gs>
                  <a:gs pos="77000">
                    <a:schemeClr val="accent6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F1B5314-B233-4CDB-8237-D007C130B0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1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2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2">
                <a:lumMod val="40000"/>
                <a:lumOff val="60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0000"/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24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3A1ADA-CC5A-4E16-BD35-6CEB953AB1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547366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869CFC-2FE1-277D-DFE4-281201848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2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2">
                <a:lumMod val="40000"/>
                <a:lumOff val="60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24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322938B-0F6C-4010-9398-1BB73366C1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31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42000">
                <a:schemeClr val="accent3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3">
                <a:lumMod val="75000"/>
                <a:tint val="45000"/>
                <a:satMod val="400000"/>
              </a:schemeClr>
            </a:duotone>
            <a:alphaModFix amt="50000"/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39000">
                    <a:schemeClr val="accent3"/>
                  </a:gs>
                  <a:gs pos="88000">
                    <a:schemeClr val="accent2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16B5CB7-7B1C-59F6-4C25-4248792AF4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547366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20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0142F11-92F3-3844-99D9-22583B2C1B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prstClr val="black"/>
              <a:schemeClr val="accent3">
                <a:lumMod val="75000"/>
                <a:tint val="45000"/>
                <a:satMod val="400000"/>
              </a:schemeClr>
            </a:duotone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42000">
                <a:schemeClr val="accent3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39000">
                    <a:schemeClr val="accent3"/>
                  </a:gs>
                  <a:gs pos="88000">
                    <a:schemeClr val="accent2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77B4877-351A-48CB-88B8-A4C0E8F79F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82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50000">
                <a:srgbClr val="FFC00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4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0"/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2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22000">
                    <a:schemeClr val="accent4"/>
                  </a:gs>
                  <a:gs pos="86000">
                    <a:srgbClr val="FFC000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FD21804-7CC7-83C1-F781-3FD477C8BA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619374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19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DD47640-1E81-042A-65D5-B32F416CFB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  <a:alphaModFix amt="30000"/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57C418A-FB76-C3A2-4AE9-067D019352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4"/>
              </a:gs>
              <a:gs pos="100000">
                <a:srgbClr val="FFC00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4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2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22000">
                    <a:schemeClr val="accent4"/>
                  </a:gs>
                  <a:gs pos="86000">
                    <a:srgbClr val="FFC000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35253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1" y="0"/>
            <a:ext cx="21599524" cy="25131963"/>
          </a:xfrm>
          <a:prstGeom prst="rect">
            <a:avLst/>
          </a:prstGeom>
          <a:gradFill>
            <a:gsLst>
              <a:gs pos="21000">
                <a:schemeClr val="accent5"/>
              </a:gs>
              <a:gs pos="90000">
                <a:schemeClr val="accent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4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5">
                <a:lumMod val="75000"/>
                <a:tint val="45000"/>
                <a:satMod val="400000"/>
              </a:schemeClr>
            </a:duotone>
            <a:alphaModFix amt="30000"/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19000">
                    <a:schemeClr val="accent5"/>
                  </a:gs>
                  <a:gs pos="100000">
                    <a:schemeClr val="accent4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0E7674C-E607-5C4E-6009-55F4DB01F1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619374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23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AAA5AD1C-9A25-5969-8CDE-4861562A3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  <a:duotone>
              <a:prstClr val="black"/>
              <a:schemeClr val="accent5">
                <a:lumMod val="75000"/>
                <a:tint val="45000"/>
                <a:satMod val="400000"/>
              </a:schemeClr>
            </a:duotone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1" y="0"/>
            <a:ext cx="21599524" cy="25131963"/>
          </a:xfrm>
          <a:prstGeom prst="rect">
            <a:avLst/>
          </a:prstGeom>
          <a:gradFill>
            <a:gsLst>
              <a:gs pos="21000">
                <a:schemeClr val="accent5"/>
              </a:gs>
              <a:gs pos="90000">
                <a:schemeClr val="accent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4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19000">
                    <a:schemeClr val="accent5"/>
                  </a:gs>
                  <a:gs pos="100000">
                    <a:schemeClr val="accent4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4F2165D-01ED-4144-A07E-4099507054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8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7613E-18C8-4B39-A489-392B9AD58E48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2A2E9-4A31-411D-B90F-C8B539CA02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7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3" r:id="rId2"/>
    <p:sldLayoutId id="2147483709" r:id="rId3"/>
    <p:sldLayoutId id="2147483714" r:id="rId4"/>
    <p:sldLayoutId id="2147483710" r:id="rId5"/>
    <p:sldLayoutId id="2147483715" r:id="rId6"/>
    <p:sldLayoutId id="2147483711" r:id="rId7"/>
    <p:sldLayoutId id="2147483716" r:id="rId8"/>
    <p:sldLayoutId id="2147483712" r:id="rId9"/>
    <p:sldLayoutId id="2147483717" r:id="rId10"/>
  </p:sldLayoutIdLst>
  <p:txStyles>
    <p:titleStyle>
      <a:lvl1pPr algn="l" defTabSz="2159996" rtl="0" eaLnBrk="1" latinLnBrk="1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1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04" userDrawn="1">
          <p15:clr>
            <a:srgbClr val="F26B43"/>
          </p15:clr>
        </p15:guide>
        <p15:guide id="2" pos="68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C64B-BADB-8B16-7BA4-9A3DB0D4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텍스트 개체 틀 44">
            <a:extLst>
              <a:ext uri="{FF2B5EF4-FFF2-40B4-BE49-F238E27FC236}">
                <a16:creationId xmlns:a16="http://schemas.microsoft.com/office/drawing/2014/main" id="{B72CF98C-61DF-56EC-6C32-15EA52D7AB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체감기술</a:t>
            </a:r>
            <a:r>
              <a:rPr lang="en-US" altLang="ko-KR" dirty="0"/>
              <a:t>(</a:t>
            </a:r>
            <a:r>
              <a:rPr lang="ko-KR" altLang="en-US" dirty="0"/>
              <a:t>고급</a:t>
            </a:r>
            <a:r>
              <a:rPr lang="en-US" altLang="ko-KR" dirty="0"/>
              <a:t>)</a:t>
            </a:r>
          </a:p>
        </p:txBody>
      </p:sp>
      <p:sp>
        <p:nvSpPr>
          <p:cNvPr id="47" name="텍스트 개체 틀 46">
            <a:extLst>
              <a:ext uri="{FF2B5EF4-FFF2-40B4-BE49-F238E27FC236}">
                <a16:creationId xmlns:a16="http://schemas.microsoft.com/office/drawing/2014/main" id="{F16A49C9-3E6D-AECD-B548-49F07BDEAD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 lIns="72000" tIns="36000" rIns="72000" bIns="36000" rtlCol="0"/>
          <a:lstStyle/>
          <a:p>
            <a:pPr algn="l"/>
            <a:r>
              <a:rPr lang="ko-KR" altLang="en-US" sz="2400">
                <a:solidFill>
                  <a:srgbClr val="1DAF88"/>
                </a:solidFill>
                <a:latin typeface="프리젠테이션 4 Regular" pitchFamily="2" charset="-127"/>
                <a:ea typeface="프리젠테이션 4 Regular" pitchFamily="2" charset="-127"/>
              </a:rPr>
              <a:t>눈을 감고 소리와 빛으로 길을 찾는 청각 중심 인터랙션</a:t>
            </a:r>
          </a:p>
        </p:txBody>
      </p:sp>
      <p:sp>
        <p:nvSpPr>
          <p:cNvPr id="48" name="텍스트 개체 틀 47">
            <a:extLst>
              <a:ext uri="{FF2B5EF4-FFF2-40B4-BE49-F238E27FC236}">
                <a16:creationId xmlns:a16="http://schemas.microsoft.com/office/drawing/2014/main" id="{FE82C41C-D69D-A308-5811-92A572A60A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72000" tIns="36000" rIns="72000" bIns="36000" rtlCol="0"/>
          <a:lstStyle/>
          <a:p>
            <a:pPr algn="l"/>
            <a:r>
              <a:rPr lang="ko-KR" altLang="en-US" sz="3200">
                <a:solidFill>
                  <a:srgbClr val="F3F5F9"/>
                </a:solidFill>
                <a:latin typeface="페이퍼로지 8 ExtraBold" pitchFamily="2" charset="-127"/>
                <a:ea typeface="페이퍼로지 8 ExtraBold" pitchFamily="2" charset="-127"/>
              </a:rPr>
              <a:t>Bell Ringer</a:t>
            </a:r>
          </a:p>
        </p:txBody>
      </p:sp>
      <p:sp>
        <p:nvSpPr>
          <p:cNvPr id="49" name="텍스트 개체 틀 48">
            <a:extLst>
              <a:ext uri="{FF2B5EF4-FFF2-40B4-BE49-F238E27FC236}">
                <a16:creationId xmlns:a16="http://schemas.microsoft.com/office/drawing/2014/main" id="{1336549B-BBC3-55C2-B7A8-E76F7C7F1F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lIns="72000" tIns="36000" rIns="72000" bIns="36000" rtlCol="0"/>
          <a:lstStyle/>
          <a:p>
            <a:pPr algn="l"/>
            <a:endParaRPr/>
          </a:p>
        </p:txBody>
      </p:sp>
      <p:sp>
        <p:nvSpPr>
          <p:cNvPr id="50" name="텍스트 개체 틀 49">
            <a:extLst>
              <a:ext uri="{FF2B5EF4-FFF2-40B4-BE49-F238E27FC236}">
                <a16:creationId xmlns:a16="http://schemas.microsoft.com/office/drawing/2014/main" id="{A8AAE076-EBEF-CF10-2965-62B85A23F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lIns="72000" tIns="36000" rIns="72000" bIns="36000" rtlCol="0"/>
          <a:lstStyle/>
          <a:p>
            <a:pPr algn="l"/>
            <a:endParaRPr/>
          </a:p>
        </p:txBody>
      </p:sp>
      <p:sp>
        <p:nvSpPr>
          <p:cNvPr id="51" name="텍스트 개체 틀 50">
            <a:extLst>
              <a:ext uri="{FF2B5EF4-FFF2-40B4-BE49-F238E27FC236}">
                <a16:creationId xmlns:a16="http://schemas.microsoft.com/office/drawing/2014/main" id="{E881BA6A-FF4F-3FF3-A463-B7A6C06597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lIns="72000" tIns="36000" rIns="72000" bIns="36000" rtlCol="0"/>
          <a:lstStyle/>
          <a:p>
            <a:pPr algn="l"/>
            <a:endParaRPr/>
          </a:p>
        </p:txBody>
      </p:sp>
      <p:sp>
        <p:nvSpPr>
          <p:cNvPr id="52" name="텍스트 개체 틀 51">
            <a:extLst>
              <a:ext uri="{FF2B5EF4-FFF2-40B4-BE49-F238E27FC236}">
                <a16:creationId xmlns:a16="http://schemas.microsoft.com/office/drawing/2014/main" id="{0F918E35-1AF2-EF6A-FC2D-1F25840305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 lIns="72000" tIns="36000" rIns="72000" bIns="36000" rtlCol="0"/>
          <a:lstStyle/>
          <a:p>
            <a:pPr algn="l"/>
            <a:endParaRPr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A7BA868-A893-3427-7645-67C887A39711}"/>
              </a:ext>
            </a:extLst>
          </p:cNvPr>
          <p:cNvGrpSpPr/>
          <p:nvPr/>
        </p:nvGrpSpPr>
        <p:grpSpPr>
          <a:xfrm>
            <a:off x="2378290" y="5947781"/>
            <a:ext cx="16842944" cy="2503265"/>
            <a:chOff x="2378290" y="7131745"/>
            <a:chExt cx="16842944" cy="2503265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94667CC-E87C-FAD8-B21F-E9468CBA247B}"/>
                </a:ext>
              </a:extLst>
            </p:cNvPr>
            <p:cNvSpPr txBox="1"/>
            <p:nvPr/>
          </p:nvSpPr>
          <p:spPr>
            <a:xfrm>
              <a:off x="2378290" y="8121886"/>
              <a:ext cx="2916000" cy="769441"/>
            </a:xfrm>
            <a:prstGeom prst="rect">
              <a:avLst/>
            </a:prstGeom>
            <a:noFill/>
          </p:spPr>
          <p:txBody>
            <a:bodyPr wrap="none" lIns="72000" tIns="36000" rIns="72000" bIns="36000" rtlCol="0">
              <a:noAutofit/>
            </a:bodyPr>
            <a:lstStyle/>
            <a:p>
              <a:r>
                <a:rPr lang="ko-KR" altLang="en-US" sz="440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프로젝트 개요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3D772B5-8386-E1E7-584F-5DBE27AB84A1}"/>
                </a:ext>
              </a:extLst>
            </p:cNvPr>
            <p:cNvSpPr txBox="1"/>
            <p:nvPr/>
          </p:nvSpPr>
          <p:spPr>
            <a:xfrm>
              <a:off x="2378290" y="7131745"/>
              <a:ext cx="1006032" cy="83151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4800" dirty="0">
                  <a:solidFill>
                    <a:schemeClr val="accent3"/>
                  </a:solidFill>
                  <a:latin typeface="페이퍼로지 8 ExtraBold" pitchFamily="2" charset="-127"/>
                  <a:ea typeface="페이퍼로지 8 ExtraBold" pitchFamily="2" charset="-127"/>
                </a:rPr>
                <a:t>01</a:t>
              </a:r>
              <a:endParaRPr lang="ko-KR" altLang="en-US" sz="4800" dirty="0">
                <a:solidFill>
                  <a:schemeClr val="accent3"/>
                </a:solidFill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E6D026C-B4E8-E311-1099-4C9F39CEA827}"/>
                </a:ext>
              </a:extLst>
            </p:cNvPr>
            <p:cNvSpPr txBox="1"/>
            <p:nvPr/>
          </p:nvSpPr>
          <p:spPr>
            <a:xfrm>
              <a:off x="6408575" y="7201273"/>
              <a:ext cx="12812659" cy="2433737"/>
            </a:xfrm>
            <a:prstGeom prst="rect">
              <a:avLst/>
            </a:prstGeom>
            <a:noFill/>
          </p:spPr>
          <p:txBody>
            <a:bodyPr wrap="square" lIns="72000" tIns="24000" rIns="72000" bIns="24000" rtlCol="0" anchor="t">
              <a:spAutoFit/>
            </a:bodyPr>
            <a:lstStyle/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/>
                <a:t>플레이어는 눈을 감은 상태에서 공간을 인지한다.</a:t>
              </a:r>
            </a:p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/>
                <a:t>종소리, LED 빛, 패드 진동, 머리 회전, 패드 위치·회전만으로 진행한다.</a:t>
              </a:r>
            </a:p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/>
                <a:t>종을 따라 이동하고, 이명을 정화하며, 마지막에는 숲으로 전환된다.</a:t>
              </a:r>
            </a:p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/>
                <a:t>관람자는 모니터를 통해 현재 상태와 상호작용을 동시에 확인할 수 있다.</a:t>
              </a:r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BA949A82-6D07-B503-9197-EAB783651656}"/>
                </a:ext>
              </a:extLst>
            </p:cNvPr>
            <p:cNvCxnSpPr>
              <a:cxnSpLocks/>
            </p:cNvCxnSpPr>
            <p:nvPr/>
          </p:nvCxnSpPr>
          <p:spPr>
            <a:xfrm>
              <a:off x="3923539" y="7547503"/>
              <a:ext cx="2004816" cy="0"/>
            </a:xfrm>
            <a:prstGeom prst="line">
              <a:avLst/>
            </a:prstGeom>
            <a:ln w="47625" cap="rnd">
              <a:solidFill>
                <a:schemeClr val="tx2">
                  <a:lumMod val="40000"/>
                  <a:lumOff val="60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7126C5B-3989-C540-2D3A-3E387AC4E3B7}"/>
              </a:ext>
            </a:extLst>
          </p:cNvPr>
          <p:cNvGrpSpPr/>
          <p:nvPr/>
        </p:nvGrpSpPr>
        <p:grpSpPr>
          <a:xfrm>
            <a:off x="2437287" y="11120373"/>
            <a:ext cx="16783947" cy="3734368"/>
            <a:chOff x="2437287" y="11598304"/>
            <a:chExt cx="16783947" cy="3734368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B2A23C6-A954-1E90-490F-7CAFA66E4EE1}"/>
                </a:ext>
              </a:extLst>
            </p:cNvPr>
            <p:cNvSpPr txBox="1"/>
            <p:nvPr/>
          </p:nvSpPr>
          <p:spPr>
            <a:xfrm>
              <a:off x="2437287" y="12588447"/>
              <a:ext cx="2916000" cy="769441"/>
            </a:xfrm>
            <a:prstGeom prst="rect">
              <a:avLst/>
            </a:prstGeom>
            <a:noFill/>
          </p:spPr>
          <p:txBody>
            <a:bodyPr wrap="none" lIns="72000" tIns="36000" rIns="72000" bIns="36000" rtlCol="0">
              <a:noAutofit/>
            </a:bodyPr>
            <a:lstStyle/>
            <a:p>
              <a:r>
                <a:rPr lang="ko-KR" altLang="en-US" sz="440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플레이 흐름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F823874-7A20-4000-60CC-175D1241AEB4}"/>
                </a:ext>
              </a:extLst>
            </p:cNvPr>
            <p:cNvSpPr txBox="1"/>
            <p:nvPr/>
          </p:nvSpPr>
          <p:spPr>
            <a:xfrm>
              <a:off x="2437287" y="11598304"/>
              <a:ext cx="1006032" cy="83151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4800" dirty="0">
                  <a:solidFill>
                    <a:srgbClr val="1DAF88"/>
                  </a:solidFill>
                  <a:latin typeface="페이퍼로지 8 ExtraBold" pitchFamily="2" charset="-127"/>
                  <a:ea typeface="페이퍼로지 8 ExtraBold" pitchFamily="2" charset="-127"/>
                </a:rPr>
                <a:t>02</a:t>
              </a:r>
              <a:endParaRPr lang="ko-KR" altLang="en-US" sz="4800" dirty="0">
                <a:solidFill>
                  <a:srgbClr val="1DAF88"/>
                </a:solidFill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284F84C-7D41-46D4-8040-98D5638044E4}"/>
                </a:ext>
              </a:extLst>
            </p:cNvPr>
            <p:cNvSpPr txBox="1"/>
            <p:nvPr/>
          </p:nvSpPr>
          <p:spPr>
            <a:xfrm>
              <a:off x="6408575" y="11667829"/>
              <a:ext cx="12812659" cy="3664843"/>
            </a:xfrm>
            <a:prstGeom prst="rect">
              <a:avLst/>
            </a:prstGeom>
            <a:noFill/>
          </p:spPr>
          <p:txBody>
            <a:bodyPr wrap="square" lIns="72000" tIns="24000" rIns="72000" bIns="24000" rtlCol="0" anchor="t">
              <a:spAutoFit/>
            </a:bodyPr>
            <a:lstStyle/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>
                  <a:solidFill>
                    <a:schemeClr val="tx1">
                      <a:lumMod val="96000"/>
                      <a:lumOff val="4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① 정적 뒤 왼쪽 귀 근처에서 종소리가 시작된다.</a:t>
              </a:r>
            </a:p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>
                  <a:solidFill>
                    <a:schemeClr val="tx1">
                      <a:lumMod val="96000"/>
                      <a:lumOff val="4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② 플레이어는 종을 따라 두 개 이상의 목표 지점까지 이동한다.</a:t>
              </a:r>
            </a:p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>
                  <a:solidFill>
                    <a:schemeClr val="tx1">
                      <a:lumMod val="96000"/>
                      <a:lumOff val="4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③ 비와 바람이 섞이며 종소리를 분리해서 추적해야 한다.</a:t>
              </a:r>
            </a:p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>
                  <a:solidFill>
                    <a:schemeClr val="tx1">
                      <a:lumMod val="96000"/>
                      <a:lumOff val="4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④ 종을 세 번 바라보며 소리와 빛의 연결을 학습한다.</a:t>
              </a:r>
            </a:p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>
                  <a:solidFill>
                    <a:schemeClr val="tx1">
                      <a:lumMod val="96000"/>
                      <a:lumOff val="4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⑤ 종을 획득한 뒤 일반 이명 2개를 정화한다.</a:t>
              </a:r>
            </a:p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>
                  <a:solidFill>
                    <a:schemeClr val="tx1">
                      <a:lumMod val="96000"/>
                      <a:lumOff val="4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⑥ 마지막에는 움직이는 보스 이명을 추적 정화하고 숲 엔딩으로 넘어간다.</a:t>
              </a: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866602DD-834E-BDD2-E404-4CC67110D2BB}"/>
                </a:ext>
              </a:extLst>
            </p:cNvPr>
            <p:cNvCxnSpPr>
              <a:cxnSpLocks/>
            </p:cNvCxnSpPr>
            <p:nvPr/>
          </p:nvCxnSpPr>
          <p:spPr>
            <a:xfrm>
              <a:off x="3923539" y="12014062"/>
              <a:ext cx="2004816" cy="0"/>
            </a:xfrm>
            <a:prstGeom prst="line">
              <a:avLst/>
            </a:prstGeom>
            <a:ln w="47625" cap="rnd">
              <a:solidFill>
                <a:schemeClr val="tx2">
                  <a:lumMod val="40000"/>
                  <a:lumOff val="60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C01DD94-0D0A-1454-681C-8D0576E04032}"/>
              </a:ext>
            </a:extLst>
          </p:cNvPr>
          <p:cNvGrpSpPr/>
          <p:nvPr/>
        </p:nvGrpSpPr>
        <p:grpSpPr>
          <a:xfrm>
            <a:off x="2437269" y="16312592"/>
            <a:ext cx="16783965" cy="3118819"/>
            <a:chOff x="2437269" y="16064860"/>
            <a:chExt cx="16783965" cy="3118819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182C1A7-F509-48AE-053E-9693A7BE67AD}"/>
                </a:ext>
              </a:extLst>
            </p:cNvPr>
            <p:cNvSpPr txBox="1"/>
            <p:nvPr/>
          </p:nvSpPr>
          <p:spPr>
            <a:xfrm>
              <a:off x="2437269" y="17055003"/>
              <a:ext cx="2916000" cy="769441"/>
            </a:xfrm>
            <a:prstGeom prst="rect">
              <a:avLst/>
            </a:prstGeom>
            <a:noFill/>
          </p:spPr>
          <p:txBody>
            <a:bodyPr wrap="none" lIns="72000" tIns="36000" rIns="72000" bIns="36000" rtlCol="0">
              <a:noAutofit/>
            </a:bodyPr>
            <a:lstStyle/>
            <a:p>
              <a:r>
                <a:rPr lang="ko-KR" altLang="en-US" sz="440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폐안 감각 설계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7443F5D-4F78-EC6F-98F9-6631213CD11B}"/>
                </a:ext>
              </a:extLst>
            </p:cNvPr>
            <p:cNvSpPr txBox="1"/>
            <p:nvPr/>
          </p:nvSpPr>
          <p:spPr>
            <a:xfrm>
              <a:off x="2437269" y="16064860"/>
              <a:ext cx="1006031" cy="83151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4800" dirty="0">
                  <a:solidFill>
                    <a:srgbClr val="1DAF88"/>
                  </a:solidFill>
                  <a:latin typeface="페이퍼로지 8 ExtraBold" pitchFamily="2" charset="-127"/>
                  <a:ea typeface="페이퍼로지 8 ExtraBold" pitchFamily="2" charset="-127"/>
                </a:rPr>
                <a:t>03</a:t>
              </a:r>
              <a:endParaRPr lang="ko-KR" altLang="en-US" sz="4800" dirty="0">
                <a:solidFill>
                  <a:srgbClr val="1DAF88"/>
                </a:solidFill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268A7A0-E4CC-048F-C0FE-EF7CA788F161}"/>
                </a:ext>
              </a:extLst>
            </p:cNvPr>
            <p:cNvSpPr txBox="1"/>
            <p:nvPr/>
          </p:nvSpPr>
          <p:spPr>
            <a:xfrm>
              <a:off x="6408575" y="16134389"/>
              <a:ext cx="12812659" cy="3049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24000" rIns="72000" bIns="24000" rtlCol="0" anchor="t">
              <a:spAutoFit/>
            </a:bodyPr>
            <a:lstStyle/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>
                  <a:solidFill>
                    <a:schemeClr val="tx1">
                      <a:lumMod val="96000"/>
                      <a:lumOff val="4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핵심: 눈을 감은 상태에서도 다음 행동이 느껴져야 한다.</a:t>
              </a:r>
            </a:p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>
                  <a:solidFill>
                    <a:schemeClr val="tx1">
                      <a:lumMod val="96000"/>
                      <a:lumOff val="4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공간 음향: 종 방향, 이명 위치, 엔딩 전환을 인지한다.</a:t>
              </a:r>
            </a:p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>
                  <a:solidFill>
                    <a:schemeClr val="tx1">
                      <a:lumMod val="96000"/>
                      <a:lumOff val="4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빛: 초록 종, 보라 이명, 파란 비, 시안 벽 노이즈를 구분한다.</a:t>
              </a:r>
            </a:p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>
                  <a:solidFill>
                    <a:schemeClr val="tx1">
                      <a:lumMod val="96000"/>
                      <a:lumOff val="4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햅틱: 종 탐지 보조, 이명 lock, 보스 이동 방향을 진동으로 전달한다.</a:t>
              </a:r>
            </a:p>
            <a:p>
              <a:pPr marL="420000" indent="-420000" algn="l" defTabSz="2159996">
                <a:spcAft>
                  <a:spcPts val="600"/>
                </a:spcAft>
                <a:buClr>
                  <a:srgbClr val="1DAF88"/>
                </a:buClr>
                <a:buSzPct val="100000"/>
                <a:buFont typeface="프리젠테이션 4 Regular" pitchFamily="2" charset="-127"/>
                <a:buChar char="•"/>
              </a:pPr>
              <a:r>
                <a:rPr lang="ko-KR" altLang="en-US" sz="3500">
                  <a:solidFill>
                    <a:schemeClr val="tx1">
                      <a:lumMod val="96000"/>
                      <a:lumOff val="4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패턴: 큰 파동보다 짧고 선명한 점·ripple 중심으로 폐안 가독성을 높인다.</a:t>
              </a: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1D8831F8-3864-FD5A-2EA8-BB07A5600D25}"/>
                </a:ext>
              </a:extLst>
            </p:cNvPr>
            <p:cNvCxnSpPr>
              <a:cxnSpLocks/>
            </p:cNvCxnSpPr>
            <p:nvPr/>
          </p:nvCxnSpPr>
          <p:spPr>
            <a:xfrm>
              <a:off x="3923539" y="16480618"/>
              <a:ext cx="2004816" cy="0"/>
            </a:xfrm>
            <a:prstGeom prst="line">
              <a:avLst/>
            </a:prstGeom>
            <a:ln w="47625" cap="rnd">
              <a:solidFill>
                <a:schemeClr val="tx2">
                  <a:lumMod val="40000"/>
                  <a:lumOff val="60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E8642A4-E5A3-D9C8-1173-0AA8E0D58F81}"/>
              </a:ext>
            </a:extLst>
          </p:cNvPr>
          <p:cNvSpPr/>
          <p:nvPr/>
        </p:nvSpPr>
        <p:spPr>
          <a:xfrm>
            <a:off x="19193984" y="30315795"/>
            <a:ext cx="1299879" cy="1299878"/>
          </a:xfrm>
          <a:prstGeom prst="roundRect">
            <a:avLst>
              <a:gd name="adj" fmla="val 787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+mn-ea"/>
              </a:rPr>
              <a:t>QR</a:t>
            </a:r>
            <a:endParaRPr lang="ko-KR" altLang="en-US" sz="40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28AFEBA-75D2-510E-8BAE-4FD518260004}"/>
              </a:ext>
            </a:extLst>
          </p:cNvPr>
          <p:cNvGrpSpPr/>
          <p:nvPr/>
        </p:nvGrpSpPr>
        <p:grpSpPr>
          <a:xfrm>
            <a:off x="2437269" y="20576743"/>
            <a:ext cx="16393708" cy="8676946"/>
            <a:chOff x="2437288" y="19603346"/>
            <a:chExt cx="16393708" cy="8676946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C7E78A59-D036-EDA2-C99C-536FA841D759}"/>
                </a:ext>
              </a:extLst>
            </p:cNvPr>
            <p:cNvCxnSpPr>
              <a:cxnSpLocks/>
            </p:cNvCxnSpPr>
            <p:nvPr/>
          </p:nvCxnSpPr>
          <p:spPr>
            <a:xfrm>
              <a:off x="3923539" y="20019104"/>
              <a:ext cx="2004816" cy="0"/>
            </a:xfrm>
            <a:prstGeom prst="line">
              <a:avLst/>
            </a:prstGeom>
            <a:ln w="47625" cap="rnd">
              <a:solidFill>
                <a:schemeClr val="tx2">
                  <a:lumMod val="40000"/>
                  <a:lumOff val="60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14754F-CAD1-D8FA-06BE-602D956461D7}"/>
                </a:ext>
              </a:extLst>
            </p:cNvPr>
            <p:cNvSpPr txBox="1"/>
            <p:nvPr/>
          </p:nvSpPr>
          <p:spPr>
            <a:xfrm>
              <a:off x="2437288" y="20593488"/>
              <a:ext cx="2916000" cy="769441"/>
            </a:xfrm>
            <a:prstGeom prst="rect">
              <a:avLst/>
            </a:prstGeom>
            <a:noFill/>
          </p:spPr>
          <p:txBody>
            <a:bodyPr wrap="none" lIns="72000" tIns="36000" rIns="72000" bIns="36000" rtlCol="0">
              <a:noAutofit/>
            </a:bodyPr>
            <a:lstStyle/>
            <a:p>
              <a:r>
                <a:rPr lang="ko-KR" altLang="en-US" sz="440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시스템 / 관람 화면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40F66FE-50F5-9676-C2C9-E3F239D8626E}"/>
                </a:ext>
              </a:extLst>
            </p:cNvPr>
            <p:cNvSpPr txBox="1"/>
            <p:nvPr/>
          </p:nvSpPr>
          <p:spPr>
            <a:xfrm>
              <a:off x="2437288" y="19603346"/>
              <a:ext cx="1006032" cy="83151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4800" dirty="0">
                  <a:solidFill>
                    <a:srgbClr val="1DAF88"/>
                  </a:solidFill>
                  <a:latin typeface="페이퍼로지 8 ExtraBold" pitchFamily="2" charset="-127"/>
                  <a:ea typeface="페이퍼로지 8 ExtraBold" pitchFamily="2" charset="-127"/>
                </a:rPr>
                <a:t>04</a:t>
              </a:r>
              <a:endParaRPr lang="ko-KR" altLang="en-US" sz="4800" dirty="0">
                <a:solidFill>
                  <a:srgbClr val="1DAF88"/>
                </a:solidFill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E1210D4-0125-3102-AC82-41159A1579B0}"/>
                </a:ext>
              </a:extLst>
            </p:cNvPr>
            <p:cNvGrpSpPr/>
            <p:nvPr/>
          </p:nvGrpSpPr>
          <p:grpSpPr>
            <a:xfrm>
              <a:off x="6457122" y="20711391"/>
              <a:ext cx="12373874" cy="7568901"/>
              <a:chOff x="6476172" y="21277450"/>
              <a:chExt cx="12354824" cy="7568901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4C714133-8757-164B-FA79-EE22525FDB4E}"/>
                  </a:ext>
                </a:extLst>
              </p:cNvPr>
              <p:cNvGrpSpPr/>
              <p:nvPr/>
            </p:nvGrpSpPr>
            <p:grpSpPr>
              <a:xfrm>
                <a:off x="6476172" y="21277450"/>
                <a:ext cx="12354824" cy="3565473"/>
                <a:chOff x="6476172" y="21277450"/>
                <a:chExt cx="12354824" cy="3565473"/>
              </a:xfrm>
            </p:grpSpPr>
            <p:pic>
              <p:nvPicPr>
                <p:cNvPr id="12" name="그림 45">
                  <a:extLst>
                    <a:ext uri="{FF2B5EF4-FFF2-40B4-BE49-F238E27FC236}">
                      <a16:creationId xmlns:a16="http://schemas.microsoft.com/office/drawing/2014/main" id="{E850FFCD-66E3-06B2-7B9C-4AD8FCF97C6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t="20143" b="20143"/>
                <a:stretch/>
              </p:blipFill>
              <p:spPr bwMode="auto">
                <a:xfrm>
                  <a:off x="6476172" y="21277450"/>
                  <a:ext cx="5961665" cy="3565473"/>
                </a:xfrm>
                <a:prstGeom prst="roundRect">
                  <a:avLst>
                    <a:gd name="adj" fmla="val 527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4" name="그림 45">
                  <a:extLst>
                    <a:ext uri="{FF2B5EF4-FFF2-40B4-BE49-F238E27FC236}">
                      <a16:creationId xmlns:a16="http://schemas.microsoft.com/office/drawing/2014/main" id="{7C25AE8F-ADD7-059D-F3F5-0030C6B8205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 t="20143" b="20143"/>
                <a:stretch/>
              </p:blipFill>
              <p:spPr bwMode="auto">
                <a:xfrm>
                  <a:off x="12869331" y="21277450"/>
                  <a:ext cx="5961665" cy="3565473"/>
                </a:xfrm>
                <a:prstGeom prst="roundRect">
                  <a:avLst>
                    <a:gd name="adj" fmla="val 527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9F96CDF2-6143-DDD4-61A7-646A99F089FD}"/>
                  </a:ext>
                </a:extLst>
              </p:cNvPr>
              <p:cNvGrpSpPr/>
              <p:nvPr/>
            </p:nvGrpSpPr>
            <p:grpSpPr>
              <a:xfrm>
                <a:off x="6476172" y="25280878"/>
                <a:ext cx="12354824" cy="3565473"/>
                <a:chOff x="6476172" y="21277450"/>
                <a:chExt cx="12354824" cy="3565473"/>
              </a:xfrm>
            </p:grpSpPr>
            <p:pic>
              <p:nvPicPr>
                <p:cNvPr id="10" name="그림 45">
                  <a:extLst>
                    <a:ext uri="{FF2B5EF4-FFF2-40B4-BE49-F238E27FC236}">
                      <a16:creationId xmlns:a16="http://schemas.microsoft.com/office/drawing/2014/main" id="{5903EE3B-3C9D-83D7-2761-E6A91795175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t="20143" b="20143"/>
                <a:stretch/>
              </p:blipFill>
              <p:spPr bwMode="auto">
                <a:xfrm>
                  <a:off x="6476172" y="21277450"/>
                  <a:ext cx="5961665" cy="3565473"/>
                </a:xfrm>
                <a:prstGeom prst="roundRect">
                  <a:avLst>
                    <a:gd name="adj" fmla="val 527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" name="그림 45">
                  <a:extLst>
                    <a:ext uri="{FF2B5EF4-FFF2-40B4-BE49-F238E27FC236}">
                      <a16:creationId xmlns:a16="http://schemas.microsoft.com/office/drawing/2014/main" id="{A5FF2FAB-5707-26AA-1B64-BF58E250418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 t="20143" b="20143"/>
                <a:stretch/>
              </p:blipFill>
              <p:spPr bwMode="auto">
                <a:xfrm>
                  <a:off x="12869331" y="21277450"/>
                  <a:ext cx="5961665" cy="3565473"/>
                </a:xfrm>
                <a:prstGeom prst="roundRect">
                  <a:avLst>
                    <a:gd name="adj" fmla="val 527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E9AFF20-1747-796D-E881-6D736E09D09B}"/>
                </a:ext>
              </a:extLst>
            </p:cNvPr>
            <p:cNvSpPr txBox="1"/>
            <p:nvPr/>
          </p:nvSpPr>
          <p:spPr>
            <a:xfrm>
              <a:off x="6408574" y="19665160"/>
              <a:ext cx="5302414" cy="707886"/>
            </a:xfrm>
            <a:prstGeom prst="rect">
              <a:avLst/>
            </a:prstGeom>
            <a:noFill/>
          </p:spPr>
          <p:txBody>
            <a:bodyPr wrap="square" lIns="72000" tIns="36000" rIns="72000" bIns="36000" rtlCol="0"/>
            <a:lstStyle/>
            <a:p>
              <a:pPr algn="l"/>
              <a:r>
                <a:rPr lang="ko-KR" altLang="en-US" sz="2100">
                  <a:solidFill>
                    <a:srgbClr val="F3F5F9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헤드 LED + IMU, 패드 IMU + 진동, ArUco 카메라, 관람자 화면이 하나의 루프로 동작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279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C09F8-BBB3-2CE8-D092-B17FB2D22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20">
            <a:extLst>
              <a:ext uri="{FF2B5EF4-FFF2-40B4-BE49-F238E27FC236}">
                <a16:creationId xmlns:a16="http://schemas.microsoft.com/office/drawing/2014/main" id="{7520B866-A68B-7395-E154-DA9A7BC09D1B}"/>
              </a:ext>
            </a:extLst>
          </p:cNvPr>
          <p:cNvSpPr txBox="1"/>
          <p:nvPr/>
        </p:nvSpPr>
        <p:spPr>
          <a:xfrm>
            <a:off x="3454546" y="5978819"/>
            <a:ext cx="2916000" cy="769441"/>
          </a:xfrm>
          <a:prstGeom prst="rect">
            <a:avLst/>
          </a:prstGeom>
          <a:noFill/>
        </p:spPr>
        <p:txBody>
          <a:bodyPr wrap="none" lIns="72000" tIns="36000" rIns="72000" bIns="36000" rtlCol="0">
            <a:noAutofit/>
          </a:bodyPr>
          <a:lstStyle/>
          <a:p>
            <a:r>
              <a:rPr lang="ko-KR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개요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E57EBDE-28CE-E224-04E1-2809A0F2AF24}"/>
              </a:ext>
            </a:extLst>
          </p:cNvPr>
          <p:cNvSpPr txBox="1"/>
          <p:nvPr/>
        </p:nvSpPr>
        <p:spPr>
          <a:xfrm>
            <a:off x="2378290" y="5947781"/>
            <a:ext cx="1006032" cy="8315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4800" dirty="0">
                <a:solidFill>
                  <a:srgbClr val="1DAF88"/>
                </a:solidFill>
                <a:latin typeface="페이퍼로지 8 ExtraBold" pitchFamily="2" charset="-127"/>
                <a:ea typeface="페이퍼로지 8 ExtraBold" pitchFamily="2" charset="-127"/>
              </a:rPr>
              <a:t>01</a:t>
            </a:r>
            <a:endParaRPr lang="ko-KR" altLang="en-US" sz="4800" dirty="0">
              <a:solidFill>
                <a:srgbClr val="1DAF88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DA0D8F-662F-25FB-F83F-E8AEDB1EE9EF}"/>
              </a:ext>
            </a:extLst>
          </p:cNvPr>
          <p:cNvSpPr txBox="1"/>
          <p:nvPr/>
        </p:nvSpPr>
        <p:spPr>
          <a:xfrm>
            <a:off x="2450718" y="6904024"/>
            <a:ext cx="7625826" cy="3612134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buClr>
                <a:srgbClr val="1DAF88"/>
              </a:buClr>
            </a:pPr>
            <a:r>
              <a:rPr lang="ko-KR" altLang="en-US" dirty="0"/>
              <a:t>글자 크기 </a:t>
            </a:r>
            <a:r>
              <a:rPr lang="en-US" altLang="ko-KR" dirty="0"/>
              <a:t>40(+-5) </a:t>
            </a:r>
            <a:r>
              <a:rPr lang="ko-KR" altLang="en-US" dirty="0"/>
              <a:t>권장</a:t>
            </a:r>
            <a:endParaRPr lang="en-US" altLang="ko-KR" dirty="0"/>
          </a:p>
          <a:p>
            <a:pPr>
              <a:buClr>
                <a:srgbClr val="1DAF88"/>
              </a:buClr>
            </a:pPr>
            <a:r>
              <a:rPr lang="ko-KR" altLang="en-US" dirty="0"/>
              <a:t>글자체</a:t>
            </a:r>
            <a:r>
              <a:rPr lang="en-US" altLang="ko-KR" dirty="0"/>
              <a:t>(</a:t>
            </a:r>
            <a:r>
              <a:rPr lang="ko-KR" altLang="en-US" dirty="0" err="1"/>
              <a:t>프리젠테이션</a:t>
            </a:r>
            <a:r>
              <a:rPr lang="ko-KR" altLang="en-US" dirty="0"/>
              <a:t> </a:t>
            </a:r>
            <a:r>
              <a:rPr lang="en-US" altLang="ko-KR" dirty="0"/>
              <a:t>4 Regular)</a:t>
            </a:r>
            <a:br>
              <a:rPr lang="en-US" altLang="ko-KR" dirty="0"/>
            </a:br>
            <a:r>
              <a:rPr lang="ko-KR" altLang="en-US" dirty="0"/>
              <a:t>수정 금지</a:t>
            </a:r>
            <a:endParaRPr lang="en-US" altLang="ko-KR" dirty="0"/>
          </a:p>
          <a:p>
            <a:pPr>
              <a:buClr>
                <a:srgbClr val="1DAF88"/>
              </a:buClr>
            </a:pPr>
            <a:r>
              <a:rPr lang="ko-KR" altLang="en-US" dirty="0"/>
              <a:t>이미지</a:t>
            </a:r>
            <a:r>
              <a:rPr lang="en-US" altLang="ko-KR" dirty="0"/>
              <a:t>(</a:t>
            </a:r>
            <a:r>
              <a:rPr lang="ko-KR" altLang="en-US" dirty="0"/>
              <a:t>사진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300dpi </a:t>
            </a:r>
            <a:r>
              <a:rPr lang="ko-KR" altLang="en-US" dirty="0"/>
              <a:t>이상</a:t>
            </a:r>
          </a:p>
          <a:p>
            <a:pPr>
              <a:buClr>
                <a:srgbClr val="1DAF88"/>
              </a:buClr>
            </a:pPr>
            <a:r>
              <a:rPr lang="ko-KR" altLang="en-US" dirty="0"/>
              <a:t>내용을 입력하세요</a:t>
            </a:r>
            <a:endParaRPr lang="en-US" altLang="ko-KR" dirty="0"/>
          </a:p>
        </p:txBody>
      </p:sp>
      <p:sp>
        <p:nvSpPr>
          <p:cNvPr id="45" name="텍스트 개체 틀 44">
            <a:extLst>
              <a:ext uri="{FF2B5EF4-FFF2-40B4-BE49-F238E27FC236}">
                <a16:creationId xmlns:a16="http://schemas.microsoft.com/office/drawing/2014/main" id="{08D5A4C7-2DEF-7B36-5FB2-BE849B3855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체감기술</a:t>
            </a:r>
            <a:r>
              <a:rPr lang="en-US" altLang="ko-KR" dirty="0"/>
              <a:t>(</a:t>
            </a:r>
            <a:r>
              <a:rPr lang="ko-KR" altLang="en-US" dirty="0"/>
              <a:t>고급</a:t>
            </a:r>
            <a:r>
              <a:rPr lang="en-US" altLang="ko-KR" dirty="0"/>
              <a:t>)</a:t>
            </a:r>
          </a:p>
        </p:txBody>
      </p:sp>
      <p:sp>
        <p:nvSpPr>
          <p:cNvPr id="47" name="텍스트 개체 틀 46">
            <a:extLst>
              <a:ext uri="{FF2B5EF4-FFF2-40B4-BE49-F238E27FC236}">
                <a16:creationId xmlns:a16="http://schemas.microsoft.com/office/drawing/2014/main" id="{652B8963-6290-EB29-5C1A-41F501C54D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실감피지컬컴퓨팅</a:t>
            </a:r>
            <a:endParaRPr lang="ko-KR" altLang="en-US" dirty="0"/>
          </a:p>
        </p:txBody>
      </p:sp>
      <p:sp>
        <p:nvSpPr>
          <p:cNvPr id="48" name="텍스트 개체 틀 47">
            <a:extLst>
              <a:ext uri="{FF2B5EF4-FFF2-40B4-BE49-F238E27FC236}">
                <a16:creationId xmlns:a16="http://schemas.microsoft.com/office/drawing/2014/main" id="{EC163707-CC88-9790-D7D7-32C64010D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49" name="텍스트 개체 틀 48">
            <a:extLst>
              <a:ext uri="{FF2B5EF4-FFF2-40B4-BE49-F238E27FC236}">
                <a16:creationId xmlns:a16="http://schemas.microsoft.com/office/drawing/2014/main" id="{105D9721-CDC4-8D4E-F479-191B0EB0E5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팀원 </a:t>
            </a:r>
            <a:r>
              <a:rPr lang="en-US" altLang="ko-KR"/>
              <a:t>(</a:t>
            </a:r>
            <a:r>
              <a:rPr lang="ko-KR" altLang="en-US"/>
              <a:t>팀명</a:t>
            </a:r>
            <a:r>
              <a:rPr lang="en-US" altLang="ko-KR"/>
              <a:t>)</a:t>
            </a:r>
            <a:endParaRPr lang="en-US" altLang="ko-KR" dirty="0"/>
          </a:p>
        </p:txBody>
      </p:sp>
      <p:sp>
        <p:nvSpPr>
          <p:cNvPr id="50" name="텍스트 개체 틀 49">
            <a:extLst>
              <a:ext uri="{FF2B5EF4-FFF2-40B4-BE49-F238E27FC236}">
                <a16:creationId xmlns:a16="http://schemas.microsoft.com/office/drawing/2014/main" id="{5F8133BA-ED9A-EF61-7590-1B20AAA08D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지도교수</a:t>
            </a:r>
          </a:p>
        </p:txBody>
      </p:sp>
      <p:sp>
        <p:nvSpPr>
          <p:cNvPr id="51" name="텍스트 개체 틀 50">
            <a:extLst>
              <a:ext uri="{FF2B5EF4-FFF2-40B4-BE49-F238E27FC236}">
                <a16:creationId xmlns:a16="http://schemas.microsoft.com/office/drawing/2014/main" id="{642E2627-69B6-4239-4F57-25BA44B168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지도교수명</a:t>
            </a:r>
          </a:p>
        </p:txBody>
      </p:sp>
      <p:sp>
        <p:nvSpPr>
          <p:cNvPr id="52" name="텍스트 개체 틀 51">
            <a:extLst>
              <a:ext uri="{FF2B5EF4-FFF2-40B4-BE49-F238E27FC236}">
                <a16:creationId xmlns:a16="http://schemas.microsoft.com/office/drawing/2014/main" id="{44CE4EB0-A4A0-3C25-AC15-9FE1C26F97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9427E-A5EE-A7E6-638B-4DAF8C841BAA}"/>
              </a:ext>
            </a:extLst>
          </p:cNvPr>
          <p:cNvSpPr txBox="1"/>
          <p:nvPr/>
        </p:nvSpPr>
        <p:spPr>
          <a:xfrm>
            <a:off x="12293746" y="5978819"/>
            <a:ext cx="2916000" cy="769441"/>
          </a:xfrm>
          <a:prstGeom prst="rect">
            <a:avLst/>
          </a:prstGeom>
          <a:noFill/>
        </p:spPr>
        <p:txBody>
          <a:bodyPr wrap="none" lIns="72000" tIns="36000" rIns="72000" bIns="36000" rtlCol="0">
            <a:noAutofit/>
          </a:bodyPr>
          <a:lstStyle/>
          <a:p>
            <a:r>
              <a:rPr lang="ko-KR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배경 및 목적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426EA-8A4D-2B16-3B94-7820E5F09811}"/>
              </a:ext>
            </a:extLst>
          </p:cNvPr>
          <p:cNvSpPr txBox="1"/>
          <p:nvPr/>
        </p:nvSpPr>
        <p:spPr>
          <a:xfrm>
            <a:off x="11217490" y="5948041"/>
            <a:ext cx="1005403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4800" dirty="0">
                <a:solidFill>
                  <a:srgbClr val="1DAF88"/>
                </a:solidFill>
                <a:latin typeface="페이퍼로지 8 ExtraBold" pitchFamily="2" charset="-127"/>
                <a:ea typeface="페이퍼로지 8 ExtraBold" pitchFamily="2" charset="-127"/>
              </a:rPr>
              <a:t>02</a:t>
            </a:r>
            <a:endParaRPr lang="ko-KR" altLang="en-US" sz="4800" dirty="0">
              <a:solidFill>
                <a:srgbClr val="1DAF88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7C6C26-22E5-02E0-613C-3B9319A66577}"/>
              </a:ext>
            </a:extLst>
          </p:cNvPr>
          <p:cNvSpPr txBox="1"/>
          <p:nvPr/>
        </p:nvSpPr>
        <p:spPr>
          <a:xfrm>
            <a:off x="11289918" y="6904024"/>
            <a:ext cx="7625826" cy="3612134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buClr>
                <a:srgbClr val="1DAF88"/>
              </a:buClr>
            </a:pPr>
            <a:r>
              <a:rPr lang="ko-KR" altLang="en-US" dirty="0"/>
              <a:t>글자 크기 </a:t>
            </a:r>
            <a:r>
              <a:rPr lang="en-US" altLang="ko-KR" dirty="0"/>
              <a:t>40(+-5) </a:t>
            </a:r>
            <a:r>
              <a:rPr lang="ko-KR" altLang="en-US" dirty="0"/>
              <a:t>권장</a:t>
            </a:r>
            <a:endParaRPr lang="en-US" altLang="ko-KR" dirty="0"/>
          </a:p>
          <a:p>
            <a:pPr>
              <a:buClr>
                <a:srgbClr val="1DAF88"/>
              </a:buClr>
            </a:pPr>
            <a:r>
              <a:rPr lang="ko-KR" altLang="en-US" dirty="0"/>
              <a:t>글자체</a:t>
            </a:r>
            <a:r>
              <a:rPr lang="en-US" altLang="ko-KR" dirty="0"/>
              <a:t>(</a:t>
            </a:r>
            <a:r>
              <a:rPr lang="ko-KR" altLang="en-US" dirty="0" err="1"/>
              <a:t>프리젠테이션</a:t>
            </a:r>
            <a:r>
              <a:rPr lang="ko-KR" altLang="en-US" dirty="0"/>
              <a:t> </a:t>
            </a:r>
            <a:r>
              <a:rPr lang="en-US" altLang="ko-KR" dirty="0"/>
              <a:t>4 Regular)</a:t>
            </a:r>
            <a:br>
              <a:rPr lang="en-US" altLang="ko-KR" dirty="0"/>
            </a:br>
            <a:r>
              <a:rPr lang="ko-KR" altLang="en-US" dirty="0"/>
              <a:t>수정 금지</a:t>
            </a:r>
            <a:endParaRPr lang="en-US" altLang="ko-KR" dirty="0"/>
          </a:p>
          <a:p>
            <a:pPr>
              <a:buClr>
                <a:srgbClr val="1DAF88"/>
              </a:buClr>
            </a:pPr>
            <a:r>
              <a:rPr lang="ko-KR" altLang="en-US" dirty="0"/>
              <a:t>이미지</a:t>
            </a:r>
            <a:r>
              <a:rPr lang="en-US" altLang="ko-KR" dirty="0"/>
              <a:t>(</a:t>
            </a:r>
            <a:r>
              <a:rPr lang="ko-KR" altLang="en-US" dirty="0"/>
              <a:t>사진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300dpi </a:t>
            </a:r>
            <a:r>
              <a:rPr lang="ko-KR" altLang="en-US" dirty="0"/>
              <a:t>이상</a:t>
            </a:r>
          </a:p>
          <a:p>
            <a:pPr>
              <a:buClr>
                <a:srgbClr val="1DAF88"/>
              </a:buClr>
            </a:pPr>
            <a:r>
              <a:rPr lang="ko-KR" altLang="en-US" dirty="0"/>
              <a:t>내용을 입력하세요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5CB6A7-7342-4E21-D615-644459FFD597}"/>
              </a:ext>
            </a:extLst>
          </p:cNvPr>
          <p:cNvSpPr txBox="1"/>
          <p:nvPr/>
        </p:nvSpPr>
        <p:spPr>
          <a:xfrm>
            <a:off x="3454546" y="16456319"/>
            <a:ext cx="2916000" cy="769441"/>
          </a:xfrm>
          <a:prstGeom prst="rect">
            <a:avLst/>
          </a:prstGeom>
          <a:noFill/>
        </p:spPr>
        <p:txBody>
          <a:bodyPr wrap="none" lIns="72000" tIns="36000" rIns="72000" bIns="36000" rtlCol="0">
            <a:noAutofit/>
          </a:bodyPr>
          <a:lstStyle/>
          <a:p>
            <a:r>
              <a:rPr lang="ko-KR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내용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56D8A-570B-034F-5CF9-4EFD8B7962FB}"/>
              </a:ext>
            </a:extLst>
          </p:cNvPr>
          <p:cNvSpPr txBox="1"/>
          <p:nvPr/>
        </p:nvSpPr>
        <p:spPr>
          <a:xfrm>
            <a:off x="2378290" y="16425541"/>
            <a:ext cx="1005403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4800" dirty="0">
                <a:solidFill>
                  <a:srgbClr val="1DAF88"/>
                </a:solidFill>
                <a:latin typeface="페이퍼로지 8 ExtraBold" pitchFamily="2" charset="-127"/>
                <a:ea typeface="페이퍼로지 8 ExtraBold" pitchFamily="2" charset="-127"/>
              </a:rPr>
              <a:t>03</a:t>
            </a:r>
            <a:endParaRPr lang="ko-KR" altLang="en-US" sz="4800" dirty="0">
              <a:solidFill>
                <a:srgbClr val="1DAF88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32A86F-D46C-BEE8-653B-78F7AF33A55F}"/>
              </a:ext>
            </a:extLst>
          </p:cNvPr>
          <p:cNvSpPr txBox="1"/>
          <p:nvPr/>
        </p:nvSpPr>
        <p:spPr>
          <a:xfrm>
            <a:off x="2450718" y="17381524"/>
            <a:ext cx="7625826" cy="3612134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buClr>
                <a:srgbClr val="1DAF88"/>
              </a:buClr>
            </a:pPr>
            <a:r>
              <a:rPr lang="ko-KR" altLang="en-US" dirty="0"/>
              <a:t>글자 크기 </a:t>
            </a:r>
            <a:r>
              <a:rPr lang="en-US" altLang="ko-KR" dirty="0"/>
              <a:t>40(+-5) </a:t>
            </a:r>
            <a:r>
              <a:rPr lang="ko-KR" altLang="en-US" dirty="0"/>
              <a:t>권장</a:t>
            </a:r>
            <a:endParaRPr lang="en-US" altLang="ko-KR" dirty="0"/>
          </a:p>
          <a:p>
            <a:pPr>
              <a:buClr>
                <a:srgbClr val="1DAF88"/>
              </a:buClr>
            </a:pPr>
            <a:r>
              <a:rPr lang="ko-KR" altLang="en-US" dirty="0"/>
              <a:t>글자체</a:t>
            </a:r>
            <a:r>
              <a:rPr lang="en-US" altLang="ko-KR" dirty="0"/>
              <a:t>(</a:t>
            </a:r>
            <a:r>
              <a:rPr lang="ko-KR" altLang="en-US" dirty="0"/>
              <a:t>프리젠테이션 </a:t>
            </a:r>
            <a:r>
              <a:rPr lang="en-US" altLang="ko-KR" dirty="0"/>
              <a:t>4 Regular)</a:t>
            </a:r>
            <a:br>
              <a:rPr lang="en-US" altLang="ko-KR" dirty="0"/>
            </a:br>
            <a:r>
              <a:rPr lang="ko-KR" altLang="en-US" dirty="0"/>
              <a:t>수정 금지</a:t>
            </a:r>
            <a:endParaRPr lang="en-US" altLang="ko-KR" dirty="0"/>
          </a:p>
          <a:p>
            <a:pPr>
              <a:buClr>
                <a:srgbClr val="1DAF88"/>
              </a:buClr>
            </a:pPr>
            <a:r>
              <a:rPr lang="ko-KR" altLang="en-US" dirty="0"/>
              <a:t>이미지</a:t>
            </a:r>
            <a:r>
              <a:rPr lang="en-US" altLang="ko-KR" dirty="0"/>
              <a:t>(</a:t>
            </a:r>
            <a:r>
              <a:rPr lang="ko-KR" altLang="en-US" dirty="0"/>
              <a:t>사진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300dpi </a:t>
            </a:r>
            <a:r>
              <a:rPr lang="ko-KR" altLang="en-US" dirty="0"/>
              <a:t>이상</a:t>
            </a:r>
          </a:p>
          <a:p>
            <a:pPr>
              <a:buClr>
                <a:srgbClr val="1DAF88"/>
              </a:buClr>
            </a:pPr>
            <a:r>
              <a:rPr lang="ko-KR" altLang="en-US" dirty="0"/>
              <a:t>내용을 입력하세요</a:t>
            </a:r>
            <a:endParaRPr lang="en-US" altLang="ko-K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381430-7E5A-DA52-0509-D075588E88B5}"/>
              </a:ext>
            </a:extLst>
          </p:cNvPr>
          <p:cNvSpPr txBox="1"/>
          <p:nvPr/>
        </p:nvSpPr>
        <p:spPr>
          <a:xfrm>
            <a:off x="12293746" y="16456319"/>
            <a:ext cx="2916000" cy="769441"/>
          </a:xfrm>
          <a:prstGeom prst="rect">
            <a:avLst/>
          </a:prstGeom>
          <a:noFill/>
        </p:spPr>
        <p:txBody>
          <a:bodyPr wrap="none" lIns="72000" tIns="36000" rIns="72000" bIns="36000" rtlCol="0">
            <a:noAutofit/>
          </a:bodyPr>
          <a:lstStyle/>
          <a:p>
            <a:r>
              <a:rPr lang="ko-KR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결과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8382ED-B6C4-F0FB-D9FA-178569AB5050}"/>
              </a:ext>
            </a:extLst>
          </p:cNvPr>
          <p:cNvSpPr txBox="1"/>
          <p:nvPr/>
        </p:nvSpPr>
        <p:spPr>
          <a:xfrm>
            <a:off x="11217490" y="16425281"/>
            <a:ext cx="1006032" cy="8315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4800" dirty="0">
                <a:solidFill>
                  <a:srgbClr val="1DAF88"/>
                </a:solidFill>
                <a:latin typeface="페이퍼로지 8 ExtraBold" pitchFamily="2" charset="-127"/>
                <a:ea typeface="페이퍼로지 8 ExtraBold" pitchFamily="2" charset="-127"/>
              </a:rPr>
              <a:t>04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C09344-A9A6-436E-8A7A-1E40115C96C7}"/>
              </a:ext>
            </a:extLst>
          </p:cNvPr>
          <p:cNvSpPr/>
          <p:nvPr/>
        </p:nvSpPr>
        <p:spPr>
          <a:xfrm>
            <a:off x="19193984" y="30315795"/>
            <a:ext cx="1299879" cy="1299878"/>
          </a:xfrm>
          <a:prstGeom prst="roundRect">
            <a:avLst>
              <a:gd name="adj" fmla="val 787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+mn-ea"/>
              </a:rPr>
              <a:t>QR</a:t>
            </a:r>
            <a:endParaRPr lang="ko-KR" altLang="en-US" sz="40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FBB6449-04B6-80B0-33E4-E1149F69295B}"/>
              </a:ext>
            </a:extLst>
          </p:cNvPr>
          <p:cNvGrpSpPr/>
          <p:nvPr/>
        </p:nvGrpSpPr>
        <p:grpSpPr>
          <a:xfrm>
            <a:off x="11213717" y="18431892"/>
            <a:ext cx="7948401" cy="10075720"/>
            <a:chOff x="11213718" y="17789219"/>
            <a:chExt cx="3679746" cy="4664597"/>
          </a:xfrm>
        </p:grpSpPr>
        <p:pic>
          <p:nvPicPr>
            <p:cNvPr id="8" name="그림 45">
              <a:extLst>
                <a:ext uri="{FF2B5EF4-FFF2-40B4-BE49-F238E27FC236}">
                  <a16:creationId xmlns:a16="http://schemas.microsoft.com/office/drawing/2014/main" id="{058BB2C4-A626-3AA1-7A93-C51A880CB8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20143" b="20143"/>
            <a:stretch/>
          </p:blipFill>
          <p:spPr bwMode="auto">
            <a:xfrm>
              <a:off x="11213718" y="17789219"/>
              <a:ext cx="3679746" cy="2197346"/>
            </a:xfrm>
            <a:prstGeom prst="roundRect">
              <a:avLst>
                <a:gd name="adj" fmla="val 5273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그림 45">
              <a:extLst>
                <a:ext uri="{FF2B5EF4-FFF2-40B4-BE49-F238E27FC236}">
                  <a16:creationId xmlns:a16="http://schemas.microsoft.com/office/drawing/2014/main" id="{1511729E-155A-31E3-4408-10A1DA5A70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20143" b="20143"/>
            <a:stretch/>
          </p:blipFill>
          <p:spPr bwMode="auto">
            <a:xfrm>
              <a:off x="11213718" y="20256470"/>
              <a:ext cx="3679746" cy="2197346"/>
            </a:xfrm>
            <a:prstGeom prst="roundRect">
              <a:avLst>
                <a:gd name="adj" fmla="val 5273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605ED93-9487-39BF-CD42-A14D9979A9F3}"/>
              </a:ext>
            </a:extLst>
          </p:cNvPr>
          <p:cNvSpPr txBox="1"/>
          <p:nvPr/>
        </p:nvSpPr>
        <p:spPr>
          <a:xfrm>
            <a:off x="11289918" y="17381524"/>
            <a:ext cx="7625826" cy="688256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marL="720000" lvl="0" indent="-720000" defTabSz="2159996" latinLnBrk="1">
              <a:spcAft>
                <a:spcPts val="1200"/>
              </a:spcAft>
              <a:buClr>
                <a:srgbClr val="1DAF88"/>
              </a:buClr>
              <a:buFont typeface="프리젠테이션 4 Regular" pitchFamily="2" charset="-127"/>
              <a:buChar char=""/>
              <a:defRPr/>
            </a:pPr>
            <a:r>
              <a:rPr lang="ko-KR" alt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글자 크기 </a:t>
            </a:r>
            <a:r>
              <a:rPr lang="en-US" altLang="ko-KR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40(+-5) </a:t>
            </a:r>
            <a:r>
              <a:rPr lang="ko-KR" alt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권장</a:t>
            </a:r>
            <a:endParaRPr lang="en-US" altLang="ko-KR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081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2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449A4"/>
      </a:accent1>
      <a:accent2>
        <a:srgbClr val="2C9CD7"/>
      </a:accent2>
      <a:accent3>
        <a:srgbClr val="1EAE88"/>
      </a:accent3>
      <a:accent4>
        <a:srgbClr val="F78D0D"/>
      </a:accent4>
      <a:accent5>
        <a:srgbClr val="EC5EA8"/>
      </a:accent5>
      <a:accent6>
        <a:srgbClr val="7148F6"/>
      </a:accent6>
      <a:hlink>
        <a:srgbClr val="70AD47"/>
      </a:hlink>
      <a:folHlink>
        <a:srgbClr val="954F72"/>
      </a:folHlink>
    </a:clrScheme>
    <a:fontScheme name="사용자 지정 3">
      <a:majorFont>
        <a:latin typeface="프리젠테이션 7 Bold"/>
        <a:ea typeface="프리젠테이션 7 Bold"/>
        <a:cs typeface=""/>
      </a:majorFont>
      <a:minorFont>
        <a:latin typeface="프리젠테이션 4 Regular"/>
        <a:ea typeface="프리젠테이션 4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571500" indent="-571500" algn="l">
          <a:buFont typeface="Arial" panose="020B0604020202020204" pitchFamily="34" charset="0"/>
          <a:buChar char="•"/>
          <a:defRPr sz="4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6896</TotalTime>
  <Words>337</Words>
  <Application>Microsoft Office PowerPoint</Application>
  <PresentationFormat>사용자 지정</PresentationFormat>
  <Paragraphs>57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Arial</vt:lpstr>
      <vt:lpstr>프리젠테이션 7 Bold</vt:lpstr>
      <vt:lpstr>페이퍼로지 6 SemiBold</vt:lpstr>
      <vt:lpstr>프리젠테이션 4 Regular</vt:lpstr>
      <vt:lpstr>페이퍼로지 8 ExtraBold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Owner</dc:creator>
  <cp:lastModifiedBy>현희 남</cp:lastModifiedBy>
  <cp:revision>300</cp:revision>
  <cp:lastPrinted>2023-11-21T09:03:08Z</cp:lastPrinted>
  <dcterms:created xsi:type="dcterms:W3CDTF">2023-05-09T06:06:35Z</dcterms:created>
  <dcterms:modified xsi:type="dcterms:W3CDTF">2026-05-31T05:44:33Z</dcterms:modified>
</cp:coreProperties>
</file>